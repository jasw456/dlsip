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810" r:id="rId4"/>
  </p:sldMasterIdLst>
  <p:notesMasterIdLst>
    <p:notesMasterId r:id="rId31"/>
  </p:notesMasterIdLst>
  <p:handoutMasterIdLst>
    <p:handoutMasterId r:id="rId32"/>
  </p:handoutMasterIdLst>
  <p:sldIdLst>
    <p:sldId id="774" r:id="rId5"/>
    <p:sldId id="802" r:id="rId6"/>
    <p:sldId id="834" r:id="rId7"/>
    <p:sldId id="858" r:id="rId8"/>
    <p:sldId id="836" r:id="rId9"/>
    <p:sldId id="806" r:id="rId10"/>
    <p:sldId id="859" r:id="rId11"/>
    <p:sldId id="831" r:id="rId12"/>
    <p:sldId id="860" r:id="rId13"/>
    <p:sldId id="853" r:id="rId14"/>
    <p:sldId id="850" r:id="rId15"/>
    <p:sldId id="861" r:id="rId16"/>
    <p:sldId id="862" r:id="rId17"/>
    <p:sldId id="863" r:id="rId18"/>
    <p:sldId id="854" r:id="rId19"/>
    <p:sldId id="864" r:id="rId20"/>
    <p:sldId id="855" r:id="rId21"/>
    <p:sldId id="866" r:id="rId22"/>
    <p:sldId id="843" r:id="rId23"/>
    <p:sldId id="865" r:id="rId24"/>
    <p:sldId id="844" r:id="rId25"/>
    <p:sldId id="856" r:id="rId26"/>
    <p:sldId id="857" r:id="rId27"/>
    <p:sldId id="845" r:id="rId28"/>
    <p:sldId id="846" r:id="rId29"/>
    <p:sldId id="820"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r. Peeta Basa Pati" initials="DPBP" lastIdx="1" clrIdx="0">
    <p:extLst>
      <p:ext uri="{19B8F6BF-5375-455C-9EA6-DF929625EA0E}">
        <p15:presenceInfo xmlns:p15="http://schemas.microsoft.com/office/powerpoint/2012/main" userId="S::bp_peeta@blr.amrita.edu::d5d7df4c-1c7c-46ba-b2e6-049fb9603be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50021"/>
    <a:srgbClr val="941651"/>
    <a:srgbClr val="FF2F92"/>
    <a:srgbClr val="C11D6B"/>
    <a:srgbClr val="E2828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D01117B-8CCE-4C5F-90AC-ADAD1F3EB288}" v="21" dt="2024-05-23T22:42:42.44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commentAuthors" Target="commentAuthors.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575132C-7AEA-46B0-9DD9-D47F6E539655}" type="datetimeFigureOut">
              <a:rPr lang="en-IN" smtClean="0"/>
              <a:t>23-05-2024</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12AD2A3-E9C6-476E-B11D-5EF9B3239F8E}" type="slidenum">
              <a:rPr lang="en-IN" smtClean="0"/>
              <a:t>‹#›</a:t>
            </a:fld>
            <a:endParaRPr lang="en-IN"/>
          </a:p>
        </p:txBody>
      </p:sp>
    </p:spTree>
    <p:extLst>
      <p:ext uri="{BB962C8B-B14F-4D97-AF65-F5344CB8AC3E}">
        <p14:creationId xmlns:p14="http://schemas.microsoft.com/office/powerpoint/2010/main" val="10297628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5B6C7D-3E6B-45A8-92D7-7F3061616A51}" type="datetimeFigureOut">
              <a:rPr lang="en-US" smtClean="0"/>
              <a:pPr/>
              <a:t>5/23/2024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E8BD47-A728-4C15-ACCB-72F3968591FE}" type="slidenum">
              <a:rPr lang="en-US" smtClean="0"/>
              <a:pPr/>
              <a:t>‹#›</a:t>
            </a:fld>
            <a:endParaRPr lang="en-US"/>
          </a:p>
        </p:txBody>
      </p:sp>
    </p:spTree>
    <p:extLst>
      <p:ext uri="{BB962C8B-B14F-4D97-AF65-F5344CB8AC3E}">
        <p14:creationId xmlns:p14="http://schemas.microsoft.com/office/powerpoint/2010/main" val="2154365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8401C-3D73-9145-9D27-022775352CD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98FC3C5-2E28-584B-9E08-C350F04738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3E1AA21-1AC4-EE4A-9EE6-2CF249667C78}"/>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4B026A89-F6F6-594C-B1D8-D2FE52E181F7}"/>
              </a:ext>
            </a:extLst>
          </p:cNvPr>
          <p:cNvSpPr>
            <a:spLocks noGrp="1"/>
          </p:cNvSpPr>
          <p:nvPr>
            <p:ph type="ftr" sz="quarter" idx="11"/>
          </p:nvPr>
        </p:nvSpPr>
        <p:spPr/>
        <p:txBody>
          <a:bodyPr/>
          <a:lstStyle/>
          <a:p>
            <a:r>
              <a:rPr lang="en-US"/>
              <a:t>21AIE312</a:t>
            </a:r>
          </a:p>
        </p:txBody>
      </p:sp>
      <p:sp>
        <p:nvSpPr>
          <p:cNvPr id="6" name="Slide Number Placeholder 5">
            <a:extLst>
              <a:ext uri="{FF2B5EF4-FFF2-40B4-BE49-F238E27FC236}">
                <a16:creationId xmlns:a16="http://schemas.microsoft.com/office/drawing/2014/main" id="{8325ABD8-565B-E441-A71D-873F53B630F7}"/>
              </a:ext>
            </a:extLst>
          </p:cNvPr>
          <p:cNvSpPr>
            <a:spLocks noGrp="1"/>
          </p:cNvSpPr>
          <p:nvPr>
            <p:ph type="sldNum" sz="quarter" idx="12"/>
          </p:nvPr>
        </p:nvSpPr>
        <p:spPr/>
        <p:txBody>
          <a:bodyPr/>
          <a:lstStyle/>
          <a:p>
            <a:fld id="{71766878-3199-4EAB-94E7-2D6D11070E14}" type="slidenum">
              <a:rPr lang="en-US" smtClean="0"/>
              <a:pPr/>
              <a:t>‹#›</a:t>
            </a:fld>
            <a:endParaRPr lang="en-US"/>
          </a:p>
        </p:txBody>
      </p:sp>
    </p:spTree>
    <p:extLst>
      <p:ext uri="{BB962C8B-B14F-4D97-AF65-F5344CB8AC3E}">
        <p14:creationId xmlns:p14="http://schemas.microsoft.com/office/powerpoint/2010/main" val="260743090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CFECE9-D645-0540-9DA0-AEC7DA1A781C}"/>
              </a:ext>
            </a:extLst>
          </p:cNvPr>
          <p:cNvSpPr>
            <a:spLocks noGrp="1"/>
          </p:cNvSpPr>
          <p:nvPr>
            <p:ph idx="1"/>
          </p:nvPr>
        </p:nvSpPr>
        <p:spPr>
          <a:xfrm>
            <a:off x="341194" y="1137256"/>
            <a:ext cx="11436823" cy="4908082"/>
          </a:xfrm>
        </p:spPr>
        <p:txBody>
          <a:bodyPr/>
          <a:lstStyle>
            <a:lvl1pPr>
              <a:defRPr>
                <a:latin typeface="Georgia" panose="02040502050405020303" pitchFamily="18" charset="0"/>
              </a:defRPr>
            </a:lvl1pPr>
            <a:lvl2pPr>
              <a:defRPr>
                <a:latin typeface="Georgia" panose="02040502050405020303" pitchFamily="18" charset="0"/>
              </a:defRPr>
            </a:lvl2pPr>
            <a:lvl3pPr>
              <a:defRPr>
                <a:latin typeface="Georgia" panose="02040502050405020303" pitchFamily="18" charset="0"/>
              </a:defRPr>
            </a:lvl3pPr>
            <a:lvl4pPr>
              <a:defRPr>
                <a:latin typeface="Georgia" panose="02040502050405020303" pitchFamily="18" charset="0"/>
              </a:defRPr>
            </a:lvl4pPr>
            <a:lvl5pPr>
              <a:defRPr>
                <a:latin typeface="Georgia" panose="020405020504050203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1">
            <a:extLst>
              <a:ext uri="{FF2B5EF4-FFF2-40B4-BE49-F238E27FC236}">
                <a16:creationId xmlns:a16="http://schemas.microsoft.com/office/drawing/2014/main" id="{9FB4E98A-97D9-4526-9E90-BA541F5B53B0}"/>
              </a:ext>
            </a:extLst>
          </p:cNvPr>
          <p:cNvSpPr>
            <a:spLocks noGrp="1"/>
          </p:cNvSpPr>
          <p:nvPr>
            <p:ph type="title" hasCustomPrompt="1"/>
          </p:nvPr>
        </p:nvSpPr>
        <p:spPr>
          <a:xfrm>
            <a:off x="341194" y="348661"/>
            <a:ext cx="11436823" cy="421441"/>
          </a:xfrm>
        </p:spPr>
        <p:txBody>
          <a:bodyPr>
            <a:noAutofit/>
          </a:bodyPr>
          <a:lstStyle>
            <a:lvl1pPr>
              <a:defRPr sz="3200" b="0">
                <a:solidFill>
                  <a:srgbClr val="A4123F"/>
                </a:solidFill>
                <a:latin typeface="Georgia" panose="02040502050405020303" pitchFamily="18" charset="0"/>
              </a:defRPr>
            </a:lvl1pPr>
          </a:lstStyle>
          <a:p>
            <a:r>
              <a:rPr lang="en-US"/>
              <a:t>Click Here To Edit Title</a:t>
            </a:r>
            <a:endParaRPr lang="en-IN"/>
          </a:p>
        </p:txBody>
      </p:sp>
      <p:pic>
        <p:nvPicPr>
          <p:cNvPr id="8" name="Picture 7">
            <a:extLst>
              <a:ext uri="{FF2B5EF4-FFF2-40B4-BE49-F238E27FC236}">
                <a16:creationId xmlns:a16="http://schemas.microsoft.com/office/drawing/2014/main" id="{140DA784-0993-4F43-BA98-733CB6486E2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489" y="6377655"/>
            <a:ext cx="12218977" cy="478447"/>
          </a:xfrm>
          <a:prstGeom prst="rect">
            <a:avLst/>
          </a:prstGeom>
        </p:spPr>
      </p:pic>
      <p:pic>
        <p:nvPicPr>
          <p:cNvPr id="9" name="Picture 8">
            <a:extLst>
              <a:ext uri="{FF2B5EF4-FFF2-40B4-BE49-F238E27FC236}">
                <a16:creationId xmlns:a16="http://schemas.microsoft.com/office/drawing/2014/main" id="{0AD13F47-3531-4371-B8DB-59E457D0738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645254" y="6520072"/>
            <a:ext cx="1262820" cy="283912"/>
          </a:xfrm>
          <a:prstGeom prst="rect">
            <a:avLst/>
          </a:prstGeom>
        </p:spPr>
      </p:pic>
      <p:sp>
        <p:nvSpPr>
          <p:cNvPr id="12" name="Date Placeholder 11"/>
          <p:cNvSpPr>
            <a:spLocks noGrp="1"/>
          </p:cNvSpPr>
          <p:nvPr>
            <p:ph type="dt" sz="half" idx="10"/>
          </p:nvPr>
        </p:nvSpPr>
        <p:spPr>
          <a:xfrm>
            <a:off x="838199" y="6356350"/>
            <a:ext cx="2749731" cy="365125"/>
          </a:xfrm>
        </p:spPr>
        <p:txBody>
          <a:bodyPr/>
          <a:lstStyle>
            <a:lvl1pPr>
              <a:defRPr>
                <a:solidFill>
                  <a:schemeClr val="bg1"/>
                </a:solidFill>
              </a:defRPr>
            </a:lvl1pPr>
          </a:lstStyle>
          <a:p>
            <a:endParaRPr lang="en-US"/>
          </a:p>
        </p:txBody>
      </p:sp>
      <p:sp>
        <p:nvSpPr>
          <p:cNvPr id="13" name="Footer Placeholder 12"/>
          <p:cNvSpPr>
            <a:spLocks noGrp="1"/>
          </p:cNvSpPr>
          <p:nvPr>
            <p:ph type="ftr" sz="quarter" idx="11"/>
          </p:nvPr>
        </p:nvSpPr>
        <p:spPr/>
        <p:txBody>
          <a:bodyPr/>
          <a:lstStyle>
            <a:lvl1pPr>
              <a:defRPr>
                <a:solidFill>
                  <a:schemeClr val="bg1"/>
                </a:solidFill>
                <a:latin typeface="Times New Roman" panose="02020603050405020304" pitchFamily="18" charset="0"/>
                <a:cs typeface="Times New Roman" panose="02020603050405020304" pitchFamily="18" charset="0"/>
              </a:defRPr>
            </a:lvl1pPr>
          </a:lstStyle>
          <a:p>
            <a:r>
              <a:rPr lang="en-US"/>
              <a:t>21AIE312</a:t>
            </a:r>
          </a:p>
        </p:txBody>
      </p:sp>
      <p:sp>
        <p:nvSpPr>
          <p:cNvPr id="14" name="Slide Number Placeholder 13"/>
          <p:cNvSpPr>
            <a:spLocks noGrp="1"/>
          </p:cNvSpPr>
          <p:nvPr>
            <p:ph type="sldNum" sz="quarter" idx="12"/>
          </p:nvPr>
        </p:nvSpPr>
        <p:spPr/>
        <p:txBody>
          <a:bodyPr/>
          <a:lstStyle>
            <a:lvl1pPr>
              <a:defRPr>
                <a:solidFill>
                  <a:schemeClr val="bg1"/>
                </a:solidFill>
                <a:latin typeface="Times New Roman" panose="02020603050405020304" pitchFamily="18" charset="0"/>
                <a:cs typeface="Times New Roman" panose="02020603050405020304" pitchFamily="18" charset="0"/>
              </a:defRPr>
            </a:lvl1pPr>
          </a:lstStyle>
          <a:p>
            <a:fld id="{71766878-3199-4EAB-94E7-2D6D11070E14}" type="slidenum">
              <a:rPr lang="en-US" smtClean="0"/>
              <a:pPr/>
              <a:t>‹#›</a:t>
            </a:fld>
            <a:endParaRPr lang="en-US"/>
          </a:p>
        </p:txBody>
      </p:sp>
    </p:spTree>
    <p:extLst>
      <p:ext uri="{BB962C8B-B14F-4D97-AF65-F5344CB8AC3E}">
        <p14:creationId xmlns:p14="http://schemas.microsoft.com/office/powerpoint/2010/main" val="1302102217"/>
      </p:ext>
    </p:extLst>
  </p:cSld>
  <p:clrMapOvr>
    <a:masterClrMapping/>
  </p:clrMapOvr>
  <p:hf hdr="0" dt="0"/>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1015E1-575C-CC43-8E0C-38A94C0D07B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8D70D65-9225-7C42-BE9D-7E7ACD2302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BD5A4A-C107-8941-A91D-265C6703529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79748F1F-AA4B-E44F-87CA-30B4D3D4B1A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21AIE312</a:t>
            </a:r>
          </a:p>
        </p:txBody>
      </p:sp>
      <p:sp>
        <p:nvSpPr>
          <p:cNvPr id="6" name="Slide Number Placeholder 5">
            <a:extLst>
              <a:ext uri="{FF2B5EF4-FFF2-40B4-BE49-F238E27FC236}">
                <a16:creationId xmlns:a16="http://schemas.microsoft.com/office/drawing/2014/main" id="{91F76259-99F7-DF4A-8A42-0737A8CCEB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766878-3199-4EAB-94E7-2D6D11070E14}" type="slidenum">
              <a:rPr lang="en-US" smtClean="0"/>
              <a:pPr/>
              <a:t>‹#›</a:t>
            </a:fld>
            <a:endParaRPr lang="en-US"/>
          </a:p>
        </p:txBody>
      </p:sp>
    </p:spTree>
    <p:extLst>
      <p:ext uri="{BB962C8B-B14F-4D97-AF65-F5344CB8AC3E}">
        <p14:creationId xmlns:p14="http://schemas.microsoft.com/office/powerpoint/2010/main" val="2433542519"/>
      </p:ext>
    </p:extLst>
  </p:cSld>
  <p:clrMap bg1="lt1" tx1="dk1" bg2="lt2" tx2="dk2" accent1="accent1" accent2="accent2" accent3="accent3" accent4="accent4" accent5="accent5" accent6="accent6" hlink="hlink" folHlink="folHlink"/>
  <p:sldLayoutIdLst>
    <p:sldLayoutId id="2147483811" r:id="rId1"/>
    <p:sldLayoutId id="2147483812" r:id="rId2"/>
  </p:sldLayoutIdLst>
  <p:hf hdr="0" dt="0"/>
  <p:txStyles>
    <p:titleStyle>
      <a:lvl1pPr algn="l" defTabSz="914400" rtl="0" eaLnBrk="1" latinLnBrk="0" hangingPunct="1">
        <a:lnSpc>
          <a:spcPct val="90000"/>
        </a:lnSpc>
        <a:spcBef>
          <a:spcPct val="0"/>
        </a:spcBef>
        <a:buNone/>
        <a:defRPr sz="4000" kern="1200">
          <a:solidFill>
            <a:schemeClr val="tx1"/>
          </a:solidFill>
          <a:latin typeface="Georgia" panose="02040502050405020303"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DC7025E-4863-6F49-AD01-8A5B65B0890F}"/>
              </a:ext>
            </a:extLst>
          </p:cNvPr>
          <p:cNvSpPr/>
          <p:nvPr/>
        </p:nvSpPr>
        <p:spPr>
          <a:xfrm>
            <a:off x="0" y="-12640"/>
            <a:ext cx="12192000" cy="6868786"/>
          </a:xfrm>
          <a:prstGeom prst="rect">
            <a:avLst/>
          </a:prstGeom>
          <a:solidFill>
            <a:srgbClr val="B811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sz="4400">
              <a:solidFill>
                <a:prstClr val="white"/>
              </a:solidFill>
              <a:latin typeface="Georgia" panose="02040502050405020303" pitchFamily="18" charset="0"/>
            </a:endParaRPr>
          </a:p>
        </p:txBody>
      </p:sp>
      <p:pic>
        <p:nvPicPr>
          <p:cNvPr id="7" name="Picture 6" descr="A picture containing drawing&#10;&#10;Description automatically generated">
            <a:extLst>
              <a:ext uri="{FF2B5EF4-FFF2-40B4-BE49-F238E27FC236}">
                <a16:creationId xmlns:a16="http://schemas.microsoft.com/office/drawing/2014/main" id="{80288CD4-7B52-C244-BAD4-BFF7D9DCE675}"/>
              </a:ext>
            </a:extLst>
          </p:cNvPr>
          <p:cNvPicPr>
            <a:picLocks noChangeAspect="1"/>
          </p:cNvPicPr>
          <p:nvPr/>
        </p:nvPicPr>
        <p:blipFill>
          <a:blip r:embed="rId2"/>
          <a:stretch>
            <a:fillRect/>
          </a:stretch>
        </p:blipFill>
        <p:spPr>
          <a:xfrm>
            <a:off x="670224" y="5118727"/>
            <a:ext cx="4590899" cy="1510975"/>
          </a:xfrm>
          <a:prstGeom prst="rect">
            <a:avLst/>
          </a:prstGeom>
        </p:spPr>
      </p:pic>
      <p:sp>
        <p:nvSpPr>
          <p:cNvPr id="8" name="TextBox 7">
            <a:extLst>
              <a:ext uri="{FF2B5EF4-FFF2-40B4-BE49-F238E27FC236}">
                <a16:creationId xmlns:a16="http://schemas.microsoft.com/office/drawing/2014/main" id="{BE776D66-1F2F-B348-8DC7-42BD5D86556D}"/>
              </a:ext>
            </a:extLst>
          </p:cNvPr>
          <p:cNvSpPr txBox="1"/>
          <p:nvPr/>
        </p:nvSpPr>
        <p:spPr>
          <a:xfrm>
            <a:off x="5399377" y="5262031"/>
            <a:ext cx="6685280" cy="1631216"/>
          </a:xfrm>
          <a:prstGeom prst="rect">
            <a:avLst/>
          </a:prstGeom>
          <a:noFill/>
        </p:spPr>
        <p:txBody>
          <a:bodyPr wrap="square" lIns="91440" tIns="45720" rIns="91440" bIns="45720" rtlCol="0" anchor="t">
            <a:spAutoFit/>
          </a:bodyPr>
          <a:lstStyle/>
          <a:p>
            <a:pPr defTabSz="914400"/>
            <a:r>
              <a:rPr lang="en-US" sz="2000" b="1">
                <a:solidFill>
                  <a:prstClr val="white"/>
                </a:solidFill>
                <a:latin typeface="Georgia"/>
                <a:cs typeface="Times New Roman"/>
              </a:rPr>
              <a:t>Date:16-05-2024</a:t>
            </a:r>
            <a:endParaRPr lang="en-US">
              <a:solidFill>
                <a:prstClr val="white"/>
              </a:solidFill>
            </a:endParaRPr>
          </a:p>
          <a:p>
            <a:pPr defTabSz="914400"/>
            <a:r>
              <a:rPr lang="en-US" sz="2000" b="1">
                <a:solidFill>
                  <a:prstClr val="white"/>
                </a:solidFill>
                <a:latin typeface="Georgia"/>
                <a:cs typeface="Times New Roman"/>
              </a:rPr>
              <a:t>Course : </a:t>
            </a:r>
            <a:r>
              <a:rPr lang="en-US" sz="2000" b="1">
                <a:solidFill>
                  <a:prstClr val="white"/>
                </a:solidFill>
                <a:latin typeface="Times New Roman"/>
                <a:ea typeface="+mn-lt"/>
                <a:cs typeface="+mn-lt"/>
              </a:rPr>
              <a:t>Deep Learning for Signal &amp; Image Processing</a:t>
            </a:r>
            <a:endParaRPr lang="en-US" b="1">
              <a:solidFill>
                <a:prstClr val="white"/>
              </a:solidFill>
              <a:latin typeface="Calibri"/>
              <a:ea typeface="+mn-lt"/>
              <a:cs typeface="Times New Roman"/>
            </a:endParaRPr>
          </a:p>
          <a:p>
            <a:pPr defTabSz="914400"/>
            <a:r>
              <a:rPr lang="en-US" sz="2000" b="1">
                <a:solidFill>
                  <a:prstClr val="white"/>
                </a:solidFill>
                <a:latin typeface="Times New Roman"/>
                <a:ea typeface="+mn-lt"/>
                <a:cs typeface="+mn-lt"/>
              </a:rPr>
              <a:t>      -</a:t>
            </a:r>
            <a:r>
              <a:rPr lang="en-US" sz="2000" b="1">
                <a:solidFill>
                  <a:prstClr val="white"/>
                </a:solidFill>
                <a:latin typeface="Times New Roman"/>
                <a:cs typeface="Calibri"/>
              </a:rPr>
              <a:t> </a:t>
            </a:r>
            <a:r>
              <a:rPr lang="en-US" sz="2000" b="1">
                <a:solidFill>
                  <a:prstClr val="white"/>
                </a:solidFill>
                <a:latin typeface="Georgia"/>
                <a:cs typeface="Times New Roman"/>
              </a:rPr>
              <a:t>21AIE312</a:t>
            </a:r>
            <a:endParaRPr lang="en-US" b="1">
              <a:solidFill>
                <a:prstClr val="white"/>
              </a:solidFill>
              <a:cs typeface="Times New Roman"/>
            </a:endParaRPr>
          </a:p>
          <a:p>
            <a:pPr defTabSz="914400"/>
            <a:r>
              <a:rPr lang="en-US" sz="2000" b="1">
                <a:solidFill>
                  <a:prstClr val="white"/>
                </a:solidFill>
                <a:latin typeface="Georgia"/>
                <a:cs typeface="Times New Roman"/>
              </a:rPr>
              <a:t>AIE 6</a:t>
            </a:r>
            <a:r>
              <a:rPr lang="en-US" sz="2000" b="1" baseline="30000">
                <a:solidFill>
                  <a:prstClr val="white"/>
                </a:solidFill>
                <a:latin typeface="Georgia"/>
                <a:cs typeface="Times New Roman"/>
              </a:rPr>
              <a:t>th</a:t>
            </a:r>
            <a:r>
              <a:rPr lang="en-US" sz="2000" b="1">
                <a:solidFill>
                  <a:prstClr val="white"/>
                </a:solidFill>
                <a:latin typeface="Georgia"/>
                <a:cs typeface="Times New Roman"/>
              </a:rPr>
              <a:t> </a:t>
            </a:r>
            <a:r>
              <a:rPr lang="en-US" sz="2000" b="1" err="1">
                <a:solidFill>
                  <a:prstClr val="white"/>
                </a:solidFill>
                <a:latin typeface="Georgia"/>
                <a:cs typeface="Times New Roman"/>
              </a:rPr>
              <a:t>sem</a:t>
            </a:r>
            <a:r>
              <a:rPr lang="en-US" sz="2000" b="1">
                <a:solidFill>
                  <a:prstClr val="white"/>
                </a:solidFill>
                <a:latin typeface="Georgia"/>
                <a:cs typeface="Times New Roman"/>
              </a:rPr>
              <a:t> –E Sec</a:t>
            </a:r>
            <a:endParaRPr lang="en-US">
              <a:solidFill>
                <a:prstClr val="white"/>
              </a:solidFill>
              <a:cs typeface="Times New Roman"/>
            </a:endParaRPr>
          </a:p>
          <a:p>
            <a:pPr defTabSz="914400"/>
            <a:endParaRPr lang="en-US" sz="2000">
              <a:solidFill>
                <a:prstClr val="white"/>
              </a:solidFill>
              <a:latin typeface="Times New Roman" panose="02020603050405020304" pitchFamily="18" charset="0"/>
              <a:cs typeface="Times New Roman" panose="02020603050405020304" pitchFamily="18" charset="0"/>
            </a:endParaRPr>
          </a:p>
        </p:txBody>
      </p:sp>
      <p:cxnSp>
        <p:nvCxnSpPr>
          <p:cNvPr id="3" name="Straight Connector 2">
            <a:extLst>
              <a:ext uri="{FF2B5EF4-FFF2-40B4-BE49-F238E27FC236}">
                <a16:creationId xmlns:a16="http://schemas.microsoft.com/office/drawing/2014/main" id="{4BA58083-EF1A-427F-9030-DC289843A2BF}"/>
              </a:ext>
            </a:extLst>
          </p:cNvPr>
          <p:cNvCxnSpPr>
            <a:cxnSpLocks/>
          </p:cNvCxnSpPr>
          <p:nvPr/>
        </p:nvCxnSpPr>
        <p:spPr>
          <a:xfrm>
            <a:off x="5230643" y="5118727"/>
            <a:ext cx="0" cy="1478698"/>
          </a:xfrm>
          <a:prstGeom prst="line">
            <a:avLst/>
          </a:prstGeom>
          <a:ln>
            <a:solidFill>
              <a:srgbClr val="FFC000"/>
            </a:solidFill>
          </a:ln>
        </p:spPr>
        <p:style>
          <a:lnRef idx="1">
            <a:schemeClr val="accent2"/>
          </a:lnRef>
          <a:fillRef idx="0">
            <a:schemeClr val="accent2"/>
          </a:fillRef>
          <a:effectRef idx="0">
            <a:schemeClr val="accent2"/>
          </a:effectRef>
          <a:fontRef idx="minor">
            <a:schemeClr val="tx1"/>
          </a:fontRef>
        </p:style>
      </p:cxnSp>
      <p:sp>
        <p:nvSpPr>
          <p:cNvPr id="6" name="Rectangle 5">
            <a:extLst>
              <a:ext uri="{FF2B5EF4-FFF2-40B4-BE49-F238E27FC236}">
                <a16:creationId xmlns:a16="http://schemas.microsoft.com/office/drawing/2014/main" id="{7018B3B8-55F3-FC1F-212F-A56870408BEE}"/>
              </a:ext>
            </a:extLst>
          </p:cNvPr>
          <p:cNvSpPr/>
          <p:nvPr/>
        </p:nvSpPr>
        <p:spPr>
          <a:xfrm>
            <a:off x="348081" y="-503581"/>
            <a:ext cx="11487140" cy="3847207"/>
          </a:xfrm>
          <a:prstGeom prst="rect">
            <a:avLst/>
          </a:prstGeom>
          <a:noFill/>
        </p:spPr>
        <p:txBody>
          <a:bodyPr wrap="square" lIns="91440" tIns="45720" rIns="91440" bIns="45720" anchor="t">
            <a:spAutoFit/>
          </a:bodyPr>
          <a:lstStyle/>
          <a:p>
            <a:pPr algn="ctr" defTabSz="914400"/>
            <a:endParaRPr lang="en-US">
              <a:solidFill>
                <a:schemeClr val="bg1"/>
              </a:solidFill>
              <a:latin typeface="Calibri"/>
              <a:ea typeface="Calibri"/>
              <a:cs typeface="Calibri"/>
            </a:endParaRPr>
          </a:p>
          <a:p>
            <a:pPr algn="ctr" defTabSz="914400"/>
            <a:endParaRPr lang="en-US" sz="3200">
              <a:solidFill>
                <a:schemeClr val="bg1"/>
              </a:solidFill>
              <a:latin typeface="Times New Roman"/>
              <a:cs typeface="Times New Roman"/>
            </a:endParaRPr>
          </a:p>
          <a:p>
            <a:pPr algn="ctr" defTabSz="914400"/>
            <a:endParaRPr lang="en-US" sz="2600">
              <a:solidFill>
                <a:schemeClr val="bg1"/>
              </a:solidFill>
              <a:latin typeface="Times New Roman"/>
              <a:cs typeface="Times New Roman"/>
            </a:endParaRPr>
          </a:p>
          <a:p>
            <a:pPr algn="ctr" defTabSz="914400"/>
            <a:r>
              <a:rPr lang="en-US" sz="4000" b="1">
                <a:solidFill>
                  <a:schemeClr val="bg1"/>
                </a:solidFill>
                <a:latin typeface="Times New Roman"/>
                <a:ea typeface="+mn-lt"/>
                <a:cs typeface="+mn-lt"/>
              </a:rPr>
              <a:t>Enhancing Secure Data Transmission through Deep Learning-based Image Steganography and Super-Resolution Generative Adversarial Networks</a:t>
            </a:r>
            <a:endParaRPr lang="en-US" sz="4000" b="1">
              <a:solidFill>
                <a:schemeClr val="bg1"/>
              </a:solidFill>
              <a:latin typeface="Times New Roman"/>
              <a:cs typeface="Times New Roman"/>
            </a:endParaRPr>
          </a:p>
          <a:p>
            <a:pPr algn="ctr" defTabSz="914400"/>
            <a:endParaRPr lang="en-US" sz="4800">
              <a:solidFill>
                <a:schemeClr val="bg1"/>
              </a:solidFill>
              <a:latin typeface="Georgia"/>
            </a:endParaRPr>
          </a:p>
        </p:txBody>
      </p:sp>
      <p:sp>
        <p:nvSpPr>
          <p:cNvPr id="11" name="TextBox 10">
            <a:extLst>
              <a:ext uri="{FF2B5EF4-FFF2-40B4-BE49-F238E27FC236}">
                <a16:creationId xmlns:a16="http://schemas.microsoft.com/office/drawing/2014/main" id="{68092EDE-74EB-2454-0C71-F682D1B77E28}"/>
              </a:ext>
            </a:extLst>
          </p:cNvPr>
          <p:cNvSpPr txBox="1"/>
          <p:nvPr/>
        </p:nvSpPr>
        <p:spPr>
          <a:xfrm>
            <a:off x="2745789" y="3057545"/>
            <a:ext cx="7055959" cy="1950035"/>
          </a:xfrm>
          <a:prstGeom prst="rect">
            <a:avLst/>
          </a:prstGeom>
          <a:noFill/>
        </p:spPr>
        <p:txBody>
          <a:bodyPr wrap="square" lIns="91440" tIns="45720" rIns="91440" bIns="45720" rtlCol="0" anchor="t">
            <a:spAutoFit/>
          </a:bodyPr>
          <a:lstStyle/>
          <a:p>
            <a:pPr algn="ctr"/>
            <a:r>
              <a:rPr lang="en-US" sz="2400" b="1">
                <a:solidFill>
                  <a:schemeClr val="bg1"/>
                </a:solidFill>
                <a:latin typeface="Times New Roman"/>
                <a:cs typeface="Times New Roman"/>
              </a:rPr>
              <a:t>Team Members</a:t>
            </a:r>
            <a:endParaRPr lang="en-US">
              <a:solidFill>
                <a:schemeClr val="bg1"/>
              </a:solidFill>
              <a:cs typeface="Times New Roman"/>
            </a:endParaRPr>
          </a:p>
          <a:p>
            <a:pPr algn="ctr"/>
            <a:endParaRPr lang="en-US" sz="2400" b="1">
              <a:solidFill>
                <a:schemeClr val="bg1"/>
              </a:solidFill>
              <a:latin typeface="Times New Roman"/>
              <a:cs typeface="Times New Roman"/>
            </a:endParaRPr>
          </a:p>
          <a:p>
            <a:r>
              <a:rPr lang="en-US" sz="2400" b="1">
                <a:solidFill>
                  <a:schemeClr val="bg1"/>
                </a:solidFill>
                <a:latin typeface="Times New Roman"/>
                <a:cs typeface="Times New Roman"/>
              </a:rPr>
              <a:t>B N Sukanth         BL.EN.U4AIE21014</a:t>
            </a:r>
            <a:endParaRPr lang="en-US">
              <a:solidFill>
                <a:schemeClr val="bg1"/>
              </a:solidFill>
              <a:cs typeface="Times New Roman"/>
            </a:endParaRPr>
          </a:p>
          <a:p>
            <a:r>
              <a:rPr lang="en-US" sz="2400" b="1" err="1">
                <a:solidFill>
                  <a:schemeClr val="bg1"/>
                </a:solidFill>
                <a:latin typeface="Times New Roman"/>
                <a:cs typeface="Times New Roman"/>
              </a:rPr>
              <a:t>Sathyavarapu</a:t>
            </a:r>
            <a:r>
              <a:rPr lang="en-US" sz="2400" b="1">
                <a:solidFill>
                  <a:schemeClr val="bg1"/>
                </a:solidFill>
                <a:latin typeface="Times New Roman"/>
                <a:cs typeface="Times New Roman"/>
              </a:rPr>
              <a:t> Sri Jaswanth  BL.EN.U4AIE21116</a:t>
            </a:r>
            <a:endParaRPr lang="en-US">
              <a:solidFill>
                <a:schemeClr val="bg1"/>
              </a:solidFill>
              <a:cs typeface="Times New Roman"/>
            </a:endParaRPr>
          </a:p>
          <a:p>
            <a:r>
              <a:rPr lang="en-US" sz="2400" b="1">
                <a:solidFill>
                  <a:schemeClr val="bg1"/>
                </a:solidFill>
                <a:latin typeface="Times New Roman"/>
                <a:cs typeface="Times New Roman"/>
              </a:rPr>
              <a:t>Sreyas Ramesh        BL.EN.U4AIE21120</a:t>
            </a:r>
            <a:endParaRPr lang="en-US">
              <a:solidFill>
                <a:schemeClr val="bg1"/>
              </a:solidFill>
              <a:latin typeface="Calibri"/>
              <a:cs typeface="Times New Roman"/>
            </a:endParaRPr>
          </a:p>
        </p:txBody>
      </p:sp>
    </p:spTree>
    <p:extLst>
      <p:ext uri="{BB962C8B-B14F-4D97-AF65-F5344CB8AC3E}">
        <p14:creationId xmlns:p14="http://schemas.microsoft.com/office/powerpoint/2010/main" val="13982791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789A6B5-C0F5-5944-9623-D5C1946E11C8}"/>
              </a:ext>
            </a:extLst>
          </p:cNvPr>
          <p:cNvSpPr>
            <a:spLocks noGrp="1"/>
          </p:cNvSpPr>
          <p:nvPr>
            <p:ph type="title"/>
          </p:nvPr>
        </p:nvSpPr>
        <p:spPr/>
        <p:txBody>
          <a:bodyPr/>
          <a:lstStyle/>
          <a:p>
            <a:r>
              <a:rPr lang="en-US" b="1">
                <a:latin typeface="Georgia"/>
              </a:rPr>
              <a:t>Outline</a:t>
            </a:r>
            <a:endParaRPr lang="en-US" b="1"/>
          </a:p>
        </p:txBody>
      </p:sp>
      <p:sp>
        <p:nvSpPr>
          <p:cNvPr id="4" name="Slide Number Placeholder 3">
            <a:extLst>
              <a:ext uri="{FF2B5EF4-FFF2-40B4-BE49-F238E27FC236}">
                <a16:creationId xmlns:a16="http://schemas.microsoft.com/office/drawing/2014/main" id="{CA201E1A-277C-C44B-A7BD-A6BF0E44493B}"/>
              </a:ext>
            </a:extLst>
          </p:cNvPr>
          <p:cNvSpPr>
            <a:spLocks noGrp="1"/>
          </p:cNvSpPr>
          <p:nvPr>
            <p:ph type="sldNum" sz="quarter" idx="12"/>
          </p:nvPr>
        </p:nvSpPr>
        <p:spPr>
          <a:xfrm>
            <a:off x="115956" y="6478751"/>
            <a:ext cx="758687" cy="365125"/>
          </a:xfrm>
        </p:spPr>
        <p:txBody>
          <a:bodyPr/>
          <a:lstStyle/>
          <a:p>
            <a:fld id="{71766878-3199-4EAB-94E7-2D6D11070E14}" type="slidenum">
              <a:rPr lang="en-US" smtClean="0"/>
              <a:pPr/>
              <a:t>2</a:t>
            </a:fld>
            <a:endParaRPr lang="en-US"/>
          </a:p>
        </p:txBody>
      </p:sp>
      <p:sp>
        <p:nvSpPr>
          <p:cNvPr id="5" name="Footer Placeholder 4"/>
          <p:cNvSpPr>
            <a:spLocks noGrp="1"/>
          </p:cNvSpPr>
          <p:nvPr>
            <p:ph type="ftr" sz="quarter" idx="11"/>
          </p:nvPr>
        </p:nvSpPr>
        <p:spPr/>
        <p:txBody>
          <a:bodyPr/>
          <a:lstStyle/>
          <a:p>
            <a:r>
              <a:rPr lang="en-US">
                <a:solidFill>
                  <a:prstClr val="white"/>
                </a:solidFill>
              </a:rPr>
              <a:t>21AIE312</a:t>
            </a:r>
            <a:endParaRPr lang="en-US"/>
          </a:p>
        </p:txBody>
      </p:sp>
      <p:sp>
        <p:nvSpPr>
          <p:cNvPr id="6" name="Content Placeholder 1">
            <a:extLst>
              <a:ext uri="{FF2B5EF4-FFF2-40B4-BE49-F238E27FC236}">
                <a16:creationId xmlns:a16="http://schemas.microsoft.com/office/drawing/2014/main" id="{D7AD95E6-9412-02AB-0A93-271EC35E3DDE}"/>
              </a:ext>
            </a:extLst>
          </p:cNvPr>
          <p:cNvSpPr>
            <a:spLocks noGrp="1"/>
          </p:cNvSpPr>
          <p:nvPr>
            <p:ph idx="1"/>
          </p:nvPr>
        </p:nvSpPr>
        <p:spPr>
          <a:xfrm>
            <a:off x="190274" y="348661"/>
            <a:ext cx="11436823" cy="5326514"/>
          </a:xfrm>
        </p:spPr>
        <p:txBody>
          <a:bodyPr vert="horz" lIns="91440" tIns="45720" rIns="91440" bIns="45720" rtlCol="0" anchor="t">
            <a:normAutofit lnSpcReduction="10000"/>
          </a:bodyPr>
          <a:lstStyle/>
          <a:p>
            <a:pPr marL="0" indent="0">
              <a:lnSpc>
                <a:spcPct val="150000"/>
              </a:lnSpc>
              <a:buNone/>
            </a:pPr>
            <a:endParaRPr lang="en-US">
              <a:latin typeface="Times New Roman" pitchFamily="18" charset="0"/>
              <a:cs typeface="Times New Roman" pitchFamily="18" charset="0"/>
            </a:endParaRPr>
          </a:p>
          <a:p>
            <a:pPr>
              <a:lnSpc>
                <a:spcPct val="150000"/>
              </a:lnSpc>
              <a:buFont typeface="Wingdings" pitchFamily="2" charset="2"/>
              <a:buChar char="Ø"/>
            </a:pPr>
            <a:r>
              <a:rPr lang="en-US">
                <a:latin typeface="Times New Roman" pitchFamily="18" charset="0"/>
                <a:cs typeface="Times New Roman" pitchFamily="18" charset="0"/>
              </a:rPr>
              <a:t>Introduction</a:t>
            </a:r>
          </a:p>
          <a:p>
            <a:pPr>
              <a:lnSpc>
                <a:spcPct val="150000"/>
              </a:lnSpc>
              <a:buFont typeface="Wingdings" pitchFamily="2" charset="2"/>
              <a:buChar char="Ø"/>
            </a:pPr>
            <a:r>
              <a:rPr lang="en-US">
                <a:latin typeface="Times New Roman" pitchFamily="18" charset="0"/>
                <a:cs typeface="Times New Roman" pitchFamily="18" charset="0"/>
              </a:rPr>
              <a:t>Literature Survey</a:t>
            </a:r>
          </a:p>
          <a:p>
            <a:pPr>
              <a:lnSpc>
                <a:spcPct val="150000"/>
              </a:lnSpc>
              <a:buFont typeface="Wingdings" pitchFamily="2" charset="2"/>
              <a:buChar char="Ø"/>
            </a:pPr>
            <a:r>
              <a:rPr lang="en-US">
                <a:latin typeface="Times New Roman" pitchFamily="18" charset="0"/>
                <a:cs typeface="Times New Roman" pitchFamily="18" charset="0"/>
              </a:rPr>
              <a:t>Dataset Description </a:t>
            </a:r>
          </a:p>
          <a:p>
            <a:pPr>
              <a:lnSpc>
                <a:spcPct val="150000"/>
              </a:lnSpc>
              <a:buFont typeface="Wingdings" pitchFamily="2" charset="2"/>
              <a:buChar char="Ø"/>
            </a:pPr>
            <a:r>
              <a:rPr lang="en-US">
                <a:latin typeface="Times New Roman" pitchFamily="18" charset="0"/>
                <a:cs typeface="Times New Roman" pitchFamily="18" charset="0"/>
              </a:rPr>
              <a:t>Methodology</a:t>
            </a:r>
          </a:p>
          <a:p>
            <a:pPr>
              <a:lnSpc>
                <a:spcPct val="150000"/>
              </a:lnSpc>
              <a:buFont typeface="Wingdings" pitchFamily="2" charset="2"/>
              <a:buChar char="Ø"/>
            </a:pPr>
            <a:r>
              <a:rPr lang="en-US">
                <a:latin typeface="Times New Roman" pitchFamily="18" charset="0"/>
                <a:cs typeface="Times New Roman" pitchFamily="18" charset="0"/>
              </a:rPr>
              <a:t>Results and Discussion </a:t>
            </a:r>
          </a:p>
          <a:p>
            <a:pPr>
              <a:lnSpc>
                <a:spcPct val="150000"/>
              </a:lnSpc>
              <a:buFont typeface="Wingdings" pitchFamily="2" charset="2"/>
              <a:buChar char="Ø"/>
            </a:pPr>
            <a:r>
              <a:rPr lang="en-US">
                <a:latin typeface="Times New Roman" pitchFamily="18" charset="0"/>
                <a:cs typeface="Times New Roman" pitchFamily="18" charset="0"/>
              </a:rPr>
              <a:t>Conclusion</a:t>
            </a:r>
          </a:p>
        </p:txBody>
      </p:sp>
      <p:sp>
        <p:nvSpPr>
          <p:cNvPr id="2" name="AutoShape 2" descr="data:image/png;base64,iVBORw0KGgoAAAANSUhEUgAAAH8AAAB5CAYAAAAQ5P4OAAAAAXNSR0IArs4c6QAAIABJREFUeF7tvQd0nMeVJvrH/jvnHNDImQBBgAEkSIFiEilRNEWJsiQrULbHfm/em+NzNp23u3PGnrezZ3ffetLuBNvKlhVIWbIoimIUSVDMAANCI3cDnXOOf//hnWoSMkWCRDcCRXumjyCS6Pr/unW/e6tu3br3FgwtwQeGIIhdgvf+sb7y2+IX6PeP4/NtcXCpubeE4/rjAX+pQfgW3r+EuBdGA7MsC8Mw/K+z9ALBXVKglujlD63mL9F4Fwjx/R7/w6R4CRly89Wzs+UPj1lLzqgH3MFDq/n358P9BGduoQJL3S2ZnJHNO7sDyyBYD+dcDufu7QEjWkJ3Dy/4C+QqAPj06dNod3c34nQ60Xg8jmYyGTSdTnOwPMbJITkcgiCMzWZRmqaRGZ6hKMqwHA6FkCRNSCR5AcvmYYbJo3J5ns/nU+Xl5RQEQfS9BGOBZJcA3cKbPrzg33O5+P2gZwAuLy/HALj5fB4jSRJNJBIYGSNxlstySJIkIAjiQPk8h2RZLp3LCSEGFtAww2PyDJdlKYxlYQxCIAhGEBZiWRqBEBJDsRzKQbMoy2ZgDEuhCJKmESSLIEiWwzA5kUBAkhjGSFGURlkpBcmgPARB+fb2dqqYGWMh0C2Wkf7AwF8sggHTbk3bkMViwWmaFrCZjDScTktIkhQnk0lRKpUS5dI5AUmSvAyZ4dP5PEHnaQ7NULxCe5blMxQD/s5lYBaDGQiBERhCEZSBUJhGWJiEESQHIwiJIkgGw9EMAsM5HMfTHA43QxBEmkfgaYwg0gKBIMXn8aI8QhQWyoXh5ubmGARBJAzDzEIAnvezJUw9d4FfwrPzpm8xHmRZlmuxWKQ+n88QCUbqvD5vbTwRL49GorpYNCqNJxPCbDbLzZNkYVpnGAYIDYSCjS0CwzfN0IIkgd9ACIqyaOHXha/gmf/A9wzLIhDDgF/lcYJD8bhcksflZXk8fkoukwUkErFNqVRMqDSaiTK9flKh17uVSmUahmF6Mca6VO9YdM1fKuG5ceOGIJfLyROJhCoajcojwaA6Fkvq05lkWS6XM2UyWTVDMyKKoQiaomGapgGqJMRCaRiGUhAMpyAYyqAwnAO/R2GYghCEhiHwAzEoirBAHmAYRiEY5rAsy4EgiAcxEI9hGD7D0jyGZrgMDHFhFsIhGEKBNOA4RqMImsRwPEJwCS+Pz58WcAUusVTkUyoUPq3K6JNwJP63P307/tOf/rTo2WCp+Hi7IC06+IstpSzLoufOnePH43FTNORvDgRDLYFAwByLxxWZTFaaz+fFDMPwEBjBOASR53G5CYLLjfIIIoRzOH4Oh+PBUDQMI0gSheEkgiBphmGyLMvmMRSlIRhnODjnJig4BCEIAkP5PM5CEEEzjACCID7CsoI8y4oYipLlKUqRzWblJEnKyXxelkqllLlshkfm8whNM3kIYpMcnBMXSUQBpVI5rdXqRtQa7Q29Xj8pk0nD5eUVQPjm3EUsNh9ne99N8B+EmJUwGgB4/7FjXGcsJvLE48pMImoic2RDJptdHo8nWsKxmIYkcxCVz2dohkkiCBzjcIgEn8+PSSWSgFgq9YnFYq9YLHQJBBKPTCaLoSiak0rhLEnycsAwO3ToEH0fTYR7e3sxHMc5UinMCQRILstmeNlsXpaIphSxZEyZjMfVyXRK6/f6TYlkSpVOJ2XZbE5CUbQYglgBj8ulJRJJSCKTWcUi0XWxRDyIYcQYn8/3aLXaKARByY0bN4Kdw7f2KUrzH5RsMGD9hSD4q6++kuSSSVM4FGr2eL0dvoBveTKeKMuRpISiKAzGsLREIvKIxZIJiVg8KpHIbEKx2C2R8MN8viSBYVhKJBKl/X5/uru7e1GML5Zl4KmpaYKiKA4di3GyGEbkcgkBlaEliWxKkUqltJFQuCISi9aHQ+GGeDyuIUlSCNwFKIYnhAKhS6lSDWg06mt6vfaqTmcaQFE01djYmH/gM8EtQIsC/0GI5i0LHu/v75dOTU3VBHy+zoDf+6jD7myIx2MyMDsBA0soEIRkMtmEUqkYUMgU/WKxaJwrlvgJIhBzOiFapVIxgUCAfeaZZ4p21BQ7PkDjz372M/gv/uIvoAMHDsAqlQpWBwKIX6VCwC4CRWldMpmpDwZDzUF/oMkfDNRGIhF9IpEQA2NTIpXEVGr1iF6ruVhpLj8rU2om+Hy+vbW1NXUnDQ9C4RYP/AVQ29vbi6fTaWnQ622cmBhb5w8EW+OJeHU2kzUKeDwUxbAAn8e3iCSiARFfaBXy+S6+UOiV8PkhTCJJKBQKsqOjA+yzv7XP/v370crKSiIajYoymagsEIjrU6mEOZ1O16RSyeZYNFafp/IqhmFpGIb8XC532mg0WVQqzUW9Xn+jrq7OYTKZMgsewBw43P71AwH/XvSwLIucPn2az2QyGnfI3xTy+LtdHve6ZDIJ1ngOxLIZjU4zJRZJbkgkkl6DQd3PlyhdOhRNZUSi3INwqMwHjFOnTmFqtZobCoVEiUTEEIkkWvx+T3skElkWjcbL0umUBMwEKpXKI5NJbyiVynNqta63okJta25eHfx6i7gAhSqG7sUDv5je7mhz9uxZmdM2VeX1+1aEwoF1iXiyI51O6TAEywr5/Gkun2/R6fUDGo1iUK3QWGtUKp92lilyHl0/sEfOnz8PnEk6v99f6ff760Mhf0skEluWTierEATloygaEYmEI2q15opGo+5VqbSXtFptoKmpiVxqIh84+DMuWeBXD4f97VPWqS12h3OTy+VqpkmSI+DzI3q9/npdTe2Juvr64wKZzBWNRr91y3gxgHA4HDybbbTG4fBscDicO5xO+/JgMCTDMIxRKpVeg8Fwta664QMBR9Cbg3Pe7du3A2N1ybaFd4O/xFPNqVOnuBIJR+NyhZsGBm5s83r9nclk0gz212KBaFKlUV3WafSXywza61yx2NrZ2Qn2xUU7RxYDpDsdIYvFfSD4FotFEAp5yoLBeIfP53vE7/etjMcTZSRJcnAUjZj0ul6NXndKo1T31DY1DZdmB5QG3gPVfLDGf/HFF/poNNrd39+/w+VyteZyORWXy83o9fohg8FwXMARnBfKhNOVlZXx9vb2zFJK/l2CUhrv5iVngAd9fX1cj8cjI0myPBwOtwcCgU2hYGh1JByWUPlcUqfVjpiMpsPLmpuPaEymibq6uuRS8GFJwJ+NhyMjI6KRkRGTy27v8AWDj9nt9k6SJAUEQYSlUulAZWXlqZqamnMEQUxu3LgxOS/O/gE9BGYBj8fDGx8fN09OTq73e/0bfT5vayQUKBfweDmJRDagVqtOVVVUnFKXlQ2k0+nYYjuFlgT8OzEA1i9N07WjFsujLo9niz/gXx6PxyUKhdKp0+muaLXaM01NTWerqqq8Go0GaPuSTfPzP11c+LQw2xvcbjffbrcbHA7HsoAvsN4+Zd0Wj0VNNEWzfD7PVl1VfdxUXv47kUw2AkFQdDEFYMkDOAHwKIrKJiYmNlssg8/4fL4NFEVxEQQLAm2vrq4+0tDQcH7VqlWOPyDFXXRSe3t7JdFotGW4v3+vdXJyg8/rraBZFq2sqJgqr6jcr9frjplVqpFlXV3RxVoC5tT8hcg78NGfPXtW7vc4t42Mjn9nfGJidSqVkOn1Rpe5zHxSbzQe0Wq1VwOBgGfv3r2Lf/y5EOIXHd77v/CnP/0p0tnZycMwrM46NrZ1aHDw8WAwsILgclGRSOSorKx4r6a69tByvX5I19GRXgzygC99SbJrgGFz8uRJWTgcbu3vv/aDaCS6MhaLKxEEDjY0Np41Gss+lsvl181ms//OPe1S0bQYDFvKd4Alqb+/n+91OFoHhwYe83p92+LxeHMqlUIqKioumc3lh8wm01GMzx9ejOl/Ts2f72CPHDki97vdy7xe72PDoyN7EARWcHCOTyKTXmpubD6i1unORqPR4N69e+/hzHi4ROBBUjN0/rx80GptsDumN/t8/qdsNlu9QqGIa3W6PoNB/1lbx6rfTk1NBRY6W84N/jxGPTQ0xOnv62vx+nzbnS7XE07HdL1UKo3qdPozVdU1hxqamy+2t7e7HqZIlzuHea9h348d82DVPXWrt7eXPzIw0OLxeV4a6B94gmUYtUgqjqs1mrNtK1b8s8FQdi2RSMzPALxF6Nzgl6j6N/exZzXnv7ryhM/j3RvwB9rIfB7S63W9ZSbzgTUb1h/BMRy4L8FBTFH+kzst9Plb7CUO5ltu3tPTo4qFw12WwcHn7E77unQmq+AL+FONTc2HGhoaP5PJZDfa2tpAbMC8PosKPgDebrdLrl6+vPJK7+VnXU7X48lkUlJRUTFUVVXxUZmp/PMUSVr27t0LtnJFAV/MqB4uYZif/s82BsDPEwcOiHJ8YsXZnrP/xufzdZEkiSmVKltrS+t+Lp//mxdeeMFaDI9ma7Oo4B8+fJgQoMTq64PXd01aJ7dEI5FKgiCCTQ2N75srKo6alMrBjo0bgwshdtEkpmgi7gHm/DAuuteZhkAArl27pug5/eUPnS73U5FIuIGmaaqioqrPaDL9Q0dHx9mWlpbQfJbQRQMfnGerVCqZ02p9qX9w8OlINNKIwHAeGCmNDY1/ZywvvyGTyYIP4rSqZA4/5A+wLIt9vP+9bpvDudvldG3xeDwVCrkqaC43/6amtvaQXq8fWL16dajUYSwK+MCRo1AoRJOTkzVjQ0M/GR0ffZSlGYFSpRqrqqk+XFVT96vNmzd7YBj+VgMuSmXOw9S+t7dHNznpXD86PLpnbHxsBwJjHIPecKnMbDpUU1d3ZPPmzf2l0rso4I+Pj4sdDmuN0+npHrx+4/sul6tcLJG462vrTtY1Nx8Qi8Xn1q5du/AoldtGd1u+3ddj+Nlf/oz96V/8tBC+VSoj5tse0HHgwAEEhHSBd3R3d8/0X1Su32z93suGOXnypHlkZOBx66Tt/46E45U4jic1Wu2p+uamd5/bu/fgPd3i91m55jvur587d+6keWrSvtE2Zd/rdrnWZdJpTKNR96xetea92qam40NDQwvek95JJDgbT6fTAgRBuHw+H8Tp0/l8PhWJRNIPKqQLgOTz+fiZTEYEwzAPQRCEJEmSz+dnIpFI/H5L3HxMBpvNxr1woactHIz8yfi4dZvf75dJZdLhhsbGDzdt2vSrxsZGYPkXLXRfa818iAGAABfuZ599vMJiGd07Njb2HAYjGgLHvGqt9sDa9Wvf1WpNg/OJUJ2NnoK290FYP94vC/lCNaFwqCGTzehZmIUlIlFcIhaPS4Ryq0wjc1dUVMx7C1SMNgBfBoqiSq/dtS4YDjWTJKmDYRYhuFyfUqkcl0sk13Rmsw04Z4p5XzFtgAu4vb1dl4rHN42Oj780NDi0gsvjZmtqa79cs2bNa3q9vt/v98eL9f4teNofHh5WXLly8dGhIcvzoyMj241aPaVUKi+qdeoPVq1Z93lHR4enmIHN1WbG9UmSpMZld7X6/L41sXisJZfN6hiGgfk8XlIoEo7JpNLrapWuV1+m71+qc/DxixfFnmSyPBRLrIiGQrsikXANmc/LQUAKiqFRAV/gUCiUPSqV4pxCo7E0NzcDa3xRYvRBWFg8GKy0ORwvXbx46SkIgjQarWa83FzxaUNTw8cikcjaUaTvf97g34pKwb1eb7PFMvjkyMjId8bHxpraWlqt5oqK35YZTYdMFRU3ZgtLngvo2b4HU57T6dT7/f6VU1brDp8/sCKTThvz+byQpmmYg+MUXyAIyuTyEa1ae6q5tfl3BEFMtbS0LOoRMRj32ZMnG9xe/1aX270jFo2sikaiIpAPiKCFTG+W4BA5lVo1qNfrevT6shPl1eXnf/3rXyduTxKZr28CPHfu3DlhOBDYfvLkqT9NZ9IrcBzPSsSS3jWrO/+3Sqe6sHbt2nAxPF4I+MjExIRicPDGttGR0adBQML09DR3w4YNn9fWVby9bNnKiw0NDSVuP2ZffMCAJ65dU1qmptqdLteugcHB3aFgUAFSskGSZSHMjYEhDMchuUKeNOiNvatXr/ml1qC9JBKJwBKQLYYZxbRhWRb/+IMD26ed0z+aGJ/YEYlEoEwmDaEoBuE4DuXz+cKPWqPJl5eXW6sqqz5rW9n+jx6PxzEzHc93iZ2hD4S6syxb9/lnn/3bcDiyNZlMymmKcm3avOWvNTrNwa1btzqLOfadN/iF8GSxuPzkuZ4feD3encFAoCoWjyc2rH/kFwaN5sOapqbRxdrTg6TJ48ePN/o8rm12u2OPdXKyJRFPECD8GaTWsSwNoTAGUTQNicQiVq/X2Wuqqz+vrWs4wBUKry/EBXqnQAwNDWkv9PQ853Q6901MTiwjSRKCb2o8RDMMRFEUBGSRz+OxKqUqrjcYzmzetOm/EUJh3yLyAwEZyleuXHxuamrqaafD1R4MBqktW7e8ZTZX/Ka1tdVSTOxfaeDfJrLA4ImHw21Hj37xk2g0+iiZz4tgFJtau6bz51qZ4cijTzzqLkb6fs/ce+uD1+sVnD/fs97pdD3rtDsedztdilwuh2AYCnFwrPAKhmEhAASXy4UUCkVCrzcMNjY2vSbm8Y50bd3qLkar79cGzD5TU1OEw+FovN575WX7tP27U1NTahRDIRTHCntLmqYhmqIghmYgDEUhiUSS0+l0vZs2P/pzrkB88siRI8lSMnXvRw/Qfo/H3jE6PPasbWr6SYfDrl27prOnrMz8dllFxZmurq45x1wa+LeoAd48nU4njoXDm4998cX/lcllVvD4gqRGrz3X3rrqnwUSQd/69esj82H4bCIQDoclnx88uMPlcr5st9sfDQeDGE0zMA7A52CgskKB8bk8CWEYDolEElKlUrqXtbT+s5DL/XD77t1T86Hl9meAm9U1MiIbHB/v6h8YeNExPf2Y0+UScLgEhGI3BZBmaIihaYjKU4VaAAKBgNbqdEPdGx75pUKr/R2Hw/Ev1jYU8OniiROKKyOWXTardd/4+Piaprp6h6nMtF+r1X9c19R0fa6ZZk7wZwMDGF82m83sttuf/vLkiRdohinT6rSjrSvaPqioqD6E4/h0sRZnMaCAHcVXp07tcbmdr9rtjlWpRAJmWQhCC9U0YAhF0QKz8zQFoQgG8fgCWiqThVqXL/8lVyh8Z8+ePRP3noWKW4HBMqeTy003Bgd3jo2OPu1wOFYH/H4O0HrQP1B9lmUghmUhmspDFM2AWYgFqdldXes/MFVUvG8wGGzFTMfF8GSmzRtv/OpRq9X6w9GR0ac0ShWtNxhOabW6dx559NEjVVVVoErIPT9zgj/bk+ePHJEn8/mO0cnJFy9furAZxTC8vLzizNbtW/9eJlMNer3eRY00tVqtmi8OHnze6XK+6nA4mslsrgA2xIJ6KlCB+eAHVN9AEBQiCB4rloqjy5a3vamQSt/YuWfPyHwOPm4fO5hmUZRputp77fmpSesOl9NVH4lEQKGPQjWPAj0QC+r6QCzNFOwPgktAWq3WtW7dus8rKirflCqVQ/X19Ylv8LQ42bsngAcP/nbF8PDoC2Ojo/tQCJHI5fIJjVbz+rYdT/y6sbHxvtvsksEHa9+R3/3OHEsmd01OTn53dGy0ic/j+Wqqa3771JNP/u2U3x8s1slQrIRbLBbzkUOHXp62T7/icjorGIqGEFA7BWILmg+sbARBIIqhIRhGIBwnIL5QkGhd3vK2Sq95vba2yTLXFDgXLeDEUs7jrbzU17fPPj29yePxlMXjcZggiMJ6DwAH9MAoWjD48lS+sBxoNJrAypUrz1bW1Lym4vEuNRW5DbtjyblnldRjx47VTE1N7JyatP0gHApXYxxOSKVW/XrT5q2vd3V1jRav+UVIITs0xDnY39/kDYVembRZd4YCAZ1IIh6qq6l7Z8OmTf88H2/eXIy/dvFizYmTJ/dN26dfdLncRogGGn8TfGDtA/Bv/gtoHlpY9/kCQXLZ8mW/0euNrz25Z88ADMOgKMPcn3vwAGQaoSy77tz5cz90OZyP+H0+bTwehwQ8XkHgWOZmtDkwAIE0gO0ehCCQQqUMr2hru1TXWPcrnCv4asOGDYG5iSi+xcWLFzVTU5NrXE7Xs9OT1i25XA5WqtWfdj/S/WZ59WNXqqsLxaFmPesoWfO9N24ITly5ssYb8P9k2j7dlc9TXKVSeb6uvuGNF1955TeLXeUDzDSXLl1qOHP8+KvTDvvzXrdHB8AvfFimUD8JaFhhJkBAYSXsJvh8Xqqlre39MoPhtR179tyAYXhBe30Afj6bffTSxYs/8ric6wKBoCKZSEBcgguhCAIW/ML0D2Yg8AHggyVBrlREWtva+urr6n7Fl0pPr1u3zl88tHO3BGcc/f391QGfZ/vgjf5XI9GoSqFUftXZufY3za2tIDQeeBdnzYMoGXzbtWvSLy9e3OR0u/6Ty+1uEvD5Wa1Wc6y+pu6tXXv3fj43uaW1AOBfuHChuefkyX2O6ennfD6fFmylALOBgQXUDDAcDAQIAXC2APAJLpFqbWvbby4v/9UTu3dfh2F4QaeK+/fv5ymEws3nL1z4scfjXhsKhaWJRALiFPrDZmp73ZRJCCrs9wFdCqUy0rqirbeutva1pQAf8Kevr08xbbWu7b1y+d96PZ4GmUI+2tG+8pPaxsbP29vbgbE7q2u5ZPAHLl7UnLl84XHHtOM/hYLBMpVK5dMbDZ821DW8u3n79gulQTt3azC4iz09zadPn97nsNuf8/n8Woa6ORZg7BViz28eMBVAQBCsYHRxOJxUW0f7Ryaz+RcrOzuvL9TKBprP5nKbzp8/9yOPx7MuGAzJgeZzMAzCMVDME/gabpZ7AxY/AB8sRyqVKrR8RduFqqqqN+Q63dmOjo55RzLdi1sg2NPncNReuHjhz+1Ox1qZVB5uam4+3lBf/1Eik7myY8eOWZe8ksAHe93LPT3m85cv7xofH/v3yWRSXVNT01dVXfnbiuqKzzo7HxmeG87SW1zs6Wns6ekBhtbzbo9HT2ayBese7PMB+IDRAHjA+FtrPgsKJS5vX/Fbg8n0izVdXdcWA3yGzGy8fKX3h26ne10wEFAmYjEExzEIR/EC8MDXUKDj1rQP/q5WqwMty1t76urr3xTIZBfnE3EzF8cALq+99poq5HX/bNJq204QXNRcZrrQ3NbyXiKRObJ3795ZZ72SwB8aGhJ6gYfr2rXvjIyO/JiiaUFdbd3B+sbGj+orKs7Wr1gxp1dproHM9n3vuXNVp06fftnucLzkdrnM+WyuMKWiKFLQ/pvbrJseNgA+h0NAAqEwtbx9xX6j0fjP33nmGbDmF2fw3YNAoPk4TK+/dOnK9x0O13qf16uJRaMoBwE+/ZuCBwSgsOeH4YK3kcPhAB+/t2PVyuOV1dVvieXyq4vpar6d1L/5m7+RIiz9H8bHxvdAMKxUqdUD9Y1N78Iw/P7evXtnTXwtCfyBgQGNbXx85dDg4O7xifHvYhjG1tbW/bK1tfXjytrageqqqthShNCMXr9u+OzIkRecdvsrTqezjibzBasKaD0AHwgCAL7gVwf7fC4PEovFqRUrO97TarW/qG1qGliMrZ5UKFzTd7X35Snb9Ea3y2WMRiIYgeEFbb+19hSWnBmDDxw0abQax9quroNlVVW/VqlUlrv2+fPRhlme+fu//3uxiMv5PwYtlhfyObJcJBZbK2trPtBw+b94/PnnZ83vmxX8e+34+vuvVA4PjXaPWkZ2W222bUKRKF5TVf0/2tes+VSj0UzV1NTmliKCavzquOrzLz99xulwvOJw2FvzWRIHZVGB0Vew9lFQHfWmYwVsuwguj5XJZMm2jnbA8F99p7JyCF5gwaaZs4yBwf7nbJPWLQ67ozoYDHL4XG6hz5uniwWRLBijgBYMx1iVWj3Z3d39XllZ2YeGiopF9/DNyMH+/fuFMEW+dONG/8uJeLwBIwhfRWXFJ2qt/q8hCJo1kmpOzb9dEC5e7GkZGRx5fHLSumt6erpDqVK6K8sr/3Lj1q2HGhsbfaUd5BQv8pOTk5KTx4494XY6Xp6emu6MRqMCiAE1+9ibRh/43y2DC2g+jyeglWpVePny5W+pVKq3tu/aNYrAMP2NWakIn8btFAIPHw/DagcGb+wcGx1/wmabWuH1eHh8Pv+m8Qk2m6COK/A1gJ0IBEMcgkMpFYrBTVu2/MJUWXmQYZjAYvn27+TeZ599xmcpak//jWsvBwLBFRAEpU3msqMNTTV/uWPHUyA76i6Lf07wb+/k1PHja0bHx/bYp6eecLvcVVqtdtRgNP3lE7t2HV/KsCmQw3718oW1U1P2pycnJh6zWW3GPJkHCl/Q+sIe+9aRKljv5QplqrKqamJZc/MbUonk07WPPmpfqGACo2qyv1857fWuHhzo3zMxPv6Y1WrTgCmfLriZ4ZsHTODvEAwRXC6ou5fSaDQXNm3e8nOSps9u3boVFGNeipURAltRpVS05Wrf9eedTkdXLp8nDEbjuWWty/9DY2PjVE1NzV02T9Hgg4ZHDx9+ZGxs9Dm3y7UjGAqptVpQQUr3V3ueffasVqu9q5DgXLpdrPKBU0SNRlrpnPZusFmtjw/2929IJpNSiAX1km/61Qs/MARO9GidVm9vaW35vK6h4VNgZDU1NRUV2XI/emcil1KplKa/78quKdv0C5OTkytS6TSep/KgzkFh6p/Zcirk8pxGo5nQG4yHuzdvfo2iKNvsWl8sF+7PzfHDhwkvj9c50N//9Pj4+JZEKqnRGnTXV7V1/LuOzs4hvV5/V1p30eCDrj//9NMt4xNj3/N6vI/F43GhXq87pVSq/8emP912qQa+W7LmAv9+39/JksneXoktEKi1OxyPDA0OPhaNRavyZE7B0jSfhUC1dJgB9fAlUplXp9X3tbW1fVxeW9vH5XLdC93m3U4nWPtHrl9f4/H7dzkcjvXBcMiUzWaFFEXhQPwQGKG4RCGMy6rV6i8wZBtpAAAgAElEQVQajboTWx57/JRMJkssZcURQFcqGm0dGOz/jmVoeEckFq5QqDRjG9Z1/ft6ne5qzZo1dwWSFg0+kPyDn366fWJ09CV/wL85m8mgRqPxC5lK9rfLv7/yWge8tBUwwZGqXiSSuiOR6omJ0VWhcLQ1nUrU5nJZHcSCo300xxfwnXKpbEir0V2ubWm5oFarQSRt+q71vmipnF0re3t6dL5gsNkXDIJAUqD9ZdlcTsEyDIpzsLiAJ/CplKpLOrX6sq68fGjlypVgC8ws1ZQPhgNsEgxjagduDD5x4/qNJ4PBUKNCpbCt37D+P6vV+oudnZ2RO/svCfyPDxzYOT4+9kooFOgG5cXLyso+FUnl//Dqq68OLvTItFg8QOqSd2JCNu311gUCvtZ4PF7FQAzO43JjCqViUK3UjZrUaodIpwsvuqbdJgtAGKurq8XTk5OtgUiwKZlMVTAUBXIIXAq5ckQil/er1WrXYs469+PRraypsrGhoa1Xei/vCQRDK6RyuWtd19q/NJmUX61cudF/Jz+KBh90/OGH7+0ZHRnbF42Gu7hcbtxcXvlbiYT/y2effRGcly+JITPbgIHxBYJH0+mohiQpSS5HI1wul5Tx+WFCLA4bDAYwxc5a9GG+UbP3oAO1WCwSkkwoSBKWgIBSPp8fRxEkJk+nw8bOzuyD4suMQTpss22+cOHCd31+f6dQJAqsX7fuv5dXVZ2CIMhzp81REvjvv//us2OjY/sikUinQCAIVlRWvc/jYW+/8MK+8WI1d37twH4OBG/8/mkwzYF6+IDh4Ldms5nJZrOUz+ejHmRNXqBx4IKndDoNCk/ByWSS5vF41IEDB6jFitcrhmczeQ12m/3RC+e/+p7P798oEAqja7s6f24wmE4ZjUb7nVHMJYH/3q9//dzY+Mi+SDS2WiQW+yorK98lCN67C8kRn/2mh8WxgIth2h9TGyCI2WTyka/OnnvZF/Bv5fH5yTVrV/8vs9lwgssVg93GNyz+osEHkvXuu28/PzY8ti+WiK2UyqTeysqqd/h84Xt79+61/TExsdixlLKElNK22P7vbAcuqzh54sS60ye+fNXn9+0guNzMurWr/9ForjgqkUgm70ygKRp80NHbb7/xvbGxsX3xWLxdIZd7q6tq3hKIxR/sLjo69l81er7AFvvciRMnOk+dOPGq3+ffySGI3Oq1q39ZXm76or5+2Zharf7GAU/R4APJfeedN18YGxnbF0/E2+Vyhae6pvotoZDz4e7dz80aGv0gpH0upvyehn8Zgvfll1+uBuD7vL4nMQ4nv7pz1etms+mwVmscufNQqSTw33rr9e+NjY2/kojHO+RymbuquuZtsZj7wb3AnwuYB/79vwD8z3755eojR49/3xfw7wT5i6vXrH7dXFHxuVarvRv8UvjxxhtvfG98fHRfLBpdKZXKPLU1Ve/whcR7e/e+9C9yzZ9deEvh6GxvWNjz4PzlxM01/0mC4ObXdK5+zWQwHNYaF6D5gMy33nr9hdHRsVfjsdgqsUjsq66uepdD8N998aUXJx64Fs/S4cLY9jCMYOE0HDt8bN3pMydf9fsDj3O5/NyqzlW/Ki83HK5XaMfUTU3zW/MBWe+88+Z3R0dHvx+NxjqFAmGosqryA5FI8uZzzz03dj9v2h8vKA/XyIB9c/Tzz7vP9ny1z+f3bePx+enOrjX/aDBoj9TUyCb1+nlu9QD4v3nnzWcsIyPfD4ej6wUCYbSisuIjCV/w2gsCgQVeisLJC1eEot7wcEFYFMmzNgKOr4DT+2jPuR6wz98sFAgTa9et/VujVntMYzLddaxbtMEHevvwvV9/Z3Bo+AeRaKSbIDiJCnP5JxKh+BffW6Bvv1TmgyPeZ555ZmEHJaV2WiImM54/8Nhs9QEWeyd0K4Sb57a7t5y/cPZFv8//iFAsDq/vWvf/GTWaE7hI5ALu3dv7LQn8jz76cMewZfj7oVBoMwxD2XKT+aBYLv6HV175IciIWfyS6bcxHBB9+vRpgqZpSTKZVEgknLhIpA4vZkLoXfiWKCCgZs7LL7/M8Xg8CiablZIQxMVxPNHV1QW2wkt6c+bX1U+vXHns0qVLzwf8wTUiidi7obvrr5RKzZn169eDSKtvJG/cBf79xvvJJ59sGhsb3hcMBB7L5UiorKzssEQq+rvqHzTc2Agv7b2wvZ/18l2MSx8Oh5uDQX+dUCj0iUQScC/PeHd3NzjI+YbwlYhbiXp9d/OZcimxYKzcHXCvyqZTRgzDUb5QOLlixYojw8PDoML4kikIKIw10T+h6x3ofeL69avPhEKhVqlUOt31yNo/B0e6s5VqKUnzDx06tHZibORFn9+3M55ICkwm40mpVPLzH/3oT3uXusDiyZMnDR6np9Ppdu6cnrZ1KBSKqEat6TGWlR3Vi0QDqFQKLmSi5nuKthBhAVM8BEHciC9SFUtEnhybGH82lUxpOBw8rZArerZt3f4/GZSxLFX8HhBFsN4jFFLTP3j9aYvFsjMajVTKlYrRlatX/7v6+vobTXdY+uCZksA/derY8uGhkWdcbvd3QqGQ0WQyXVCqNP99x47tF02msgWlQ82lepcvX9aODQ932aftz1ksA518Hh9VKBQOrV53pdJccVIol1/HcdzndrvTS6lhd9LZ+4teHF2FGsKBcO3U5ETXtMO+y2q11TAMQ0ikkqhWrzv5xM6d/4Vl2eGlBL9Q91ggaB/qH3zRap3cnEgkFAqVqn/lquU/6egwjppMt4pg3iblJYF/5syxmokx2+MOp2OPx+Nt1em0QxqV9q/2bNx4+s495Fxglvo9SEmyjlobPG7Hnms3rn03l82CWztovoAfVCpUkwajcVCj1Z7UGY03QDIkDCPUUoSRz9D99VWwOabRNjW+wel0rvb7/E3ReLwsHovzZTIppNFppwxG48FHN236u3A4/HVBplLHft/2t8AESSV0Ltfd3z/wA6fDuT6VSXPA5VXNrfV/1tDQap0tb6Ek8EH915ER24Zp2/TTDqdjq1wm85iMhr9au777aEtLC7gDtrRbsUqYawGzDx48qA26fRsHB6//n4FQqDaTzohB9K5EIk2rlEqvTCo9K5XJLklkslG5ROJXSaVRjCTTjRCUhRd4Vz1Y051OJ9dut4vIREKcSKVkiVhMH0skunw+/5pAIFATjkTkqVQKBxm65rKyuKncfL7cbD7Q0tb2ybJly2Il86cEKQGh2zSZ2zk0aPkhKFdH0XTeVGY6azKbf6LX612z1UwoCfyLFy+KXS7X8rGx0T3T01PfEwr42TJT+V+v6Og4ZDAYphez5Nls4z569KggFozVT0wM/8hht68LhUJmMkfyuVwC4vJ4eaFA4BGKxZMSiWRMKpHY5HLVpFwstfJ4mA/i8xMajYasrq4G8etzbxNB7gXDohMTExhJkngoFOKlIhFdPBWvTMTiFbFYAhRnKIvHE8uS8YQ+mU7xs7kcKAMLIniZ2trawerqmk/qmxt/JxKJhjo6OkC/SxbtdPSddwRRBH9+yDL4KriwGUXRWGVN9RGpTPb/fO/FFwPIrUireW/1QPzc559/UjM4OLLb4bD/GYZgRGVl1Wstzc2fVtbWDpnN5nkVYSpWwIH2Hz16VOpzOneODA8/aXc4VkYiER3EsoV6fCBtiyAISiIWp9QaTVCr0Q2LRKKLIrFwGOdwvAyKRpBcLpmOxzO5dJrCVSomHA6DwkkFUIhUCk4RBMxJp2EEx1GhTseDYVgEUZQ0n8tpUplMQyQcXhkKheqCoaA2HA4L08kUDspmgDQtUBuAIDgMhmKpxuamj5qbmj5Y98gj5+88Si12vHe2u99E+frrr4swCPqxZcjyYiqdruILBI76hsYDeTr/P3/0ox/NWpunJM0HxPT09OiuXrr0hMPl/o80RanNZebPqmqqPq6rqDhXt3y5a74DK/Y5YFkz6bRhZHz8Mcvw0BM+n281TdFyksyjIIEC5+BAABguh2B4XG6OQxBBHpcb5QsECQGfn8RwPFr4wbA4imFpiGFyMILkWYZBWIbh0AzDYxiGn6coAUtRwlwuJ05ls2JQXDmfy0kzuZwim8nwSJJEKYqCc3kSpmmqUIwBxzmMRqNN6Qy6q3qj8e2qqpqTmzdvdsx3B1IsT0A7kKiJwuh/tliGdmMYptRoNAPVVTVv5Jn8hy+99NKsORUlg3/t2jXpmS+/3OLz+f88nUpV63TaPpPR+HFTQ8Pny1evHiuF4Pm0BdPWF198AWoAtkyMjm7zBXyb47F4fSqdllEMczOHDxRqQFCQysUCww9GEApHUQrDcRrHMBLFsDyGohSKYTTwDzAsmKgZGPxQDIMyNI3lSBJDYBgFsx1NUXieolCapsHNoOAHFNguJGjmKbKwZ0IQhBYIBNGKisohvcHwoVKjO1NeXn5X6NR8xjzXM8DjmclktG6787+OTYxvFvD5cHl5xdmmxuZfeoPec/v27Zu1KknJ4IMyIJ989Mm6SDj4HyPR6EqxSOTVaXWfLlvW9EHXxo29vye0SGuuyGZ3MuDs2bOy4f7+Bn/AuzYcDD8SCIWWp1IpeZ4kCYZhUFCVC7z6ZgLl739mQAOp1DMlVL7O+AFl1Gj66yILMxk4XxdduFVh82blT1AAAocohoJA5WsQqy+VyQerq6pPGvX6w2KVytXd3Q3Ss0ozgudCepbvgS0UDocbBm/0/792h6NNIpG4GuobP2td0fp+Pp8HdxPPXpmjVB8z8CT90z/90/JMPPln4OQIrMMKueL4spbmtx7ftev4PGif+5F7CEjvZ5/xLT5fZTAU6LZZp7ZGYtG6TDqtpvKUEAElOkACJSjZcqt8BwDxdkEoVNG6VU3jdiIAuIU8+1sVP2bABv8GaeC33sPiHJxGMSQjloidCpnyukqrO1Pf2HiKz+dbF7si2b2YBJZBMkbqnAHnxoGB/j8LBoNGuUJxcWX7yvfWrl979M6Cz7e/pwTN/z0Cb7zxRiWVJZ93u1zPhcNhrUQq7mtsaHjruy+++MGDkPTbBwD2/xGv1zw2MbHW7XGvi4Qj4AZKM0XmFTkyh4By7DMgFip44Pitej638vtuJXnOCMjMn7fPBoVl5FatPyAPCIKwHA6H5HG5cYlUPKnUaK5otZqvyg1lV7ofe2z6QazxMzwAd/COjY0t93v9e8fHRp/I5nKYQqk42Ll27Zu7d+++fD/NKgH837/m8OHDqmg0usFht++bHBtrFwgEnpqamvd37t79v41G4wNLVLgFKihIhI2Ojgrz+Uxj0ONb4/MFusLh8IpIKKTIkSQXYAdAndF88Nydy8HM6L5R5WOm4M+tGQA8g2EYKeDzExKp1COTy4YMJsMhpUY1KJfzHCgqW9Tik3NPiRB05swZ08jQ0LapafufBIPBWoIgQiql4p2uRx55a9OmTdOzv+OmIs8LfKBtLper2u1wPNt7+cpTHIIgysvNx7u6u/8XiqJ2u92e+trFOs81vZiB3zFVIydOHBC53TFzLJxsisVjTfFgqDydzVZQ+byeomk5lc8LgOEGhAD8zHxmtH2mnNrMv4G2YxjGgNtTMAyLAfcxl8u1C4RCu0QksgoEglG1UnldqFJFtm7dCoR+yQ5u7sWPTz/6qGV0YuKZ8fGJl1iWlSgUimGVUv32+u71B+aq/zMv8MG6f/rQIZkrEtl6tufsj2EYrlapVSP1jY2/0Wq1pxEEAR6lBdW9KxX822YBnsfjkaWiUWUkFNKm0+nKTC5Xnc3kqnO5bHkmk5FTVJ4AQkDRNMzQzM06KoUCCxAon84iCErjOEZzcA6JE5wEwSH8BIeY5gl4Fh5BTAp5PLdUoQjKBIJwdyYT+bYCWYC99eZrrwF755XR8bHHlSpVSq/XnVCp1R9s3bq155tOt7u1cF7gA0bt37+fIxaLlx8/evTf5HJkF4/Lzao12rN1DXVv6vX66x0dHfct+jsfcEt5ZqZEumt8XO4OBIzxeKoylYzVRCMxXYbMCfIkySHJPMYyNMLcxB1U8ywAj6FYnsPl5LkEL8UjiLBYKHJJpDKbRqMf15q1vsbGxvta8Q9osoNOnTqlvH716pNTU1MvWq225Q2NjUNmk/kDjV5z9Omnn54zhW7e4APtv3Lliv7o0aN/Go/GduZyOT2OYfb2jpV/LVfKj23bts37IA2f+wkGyF0Hl17BmYwgl0c5JELibC6Hkfk8RpIgt5/CGBZlURhlIA5EcyCI4nA4FIPjeTUsyNLJbNZP6NLd3eW5h2VMYG/P5XK7BgcGnpmy2ja73G7J2nXrDpYby39TVV91fc0s+fh38qgE8L8pz0CzfP39/OPX+r8zbZ9+1uNxrwkGg/nOdWt/UV5e/lFNTc3EQitglaLp92sLaP3Zz34GNzY2wjP334nGxmCovR2yWq3f4EFlZSUL9fVBidragss3EAiwz1ieYaG/uN+VZcXq+u/blbrFvr0HAHx1dbXm7KkzL3u9nscDwUBVMpFMdG145Fdqqfoji9UyXUySaAng381eQIRIJGoasVh2TtmmdzpdzprWtuWny8vLf1tTU3Mex/FC3NhigfgH+55iZaPIAYKzexSC1p08efJPksnkapiFEJyDjyxva/sHo0x2bvNTTxV1t9F9wC+O4uO9xyXT161dE+PWvVO26W0ms8mv1WrPaDSawy0tLRdbWlqW9LCnSH790TQDS9jU1JTO73bv7ek58wzDsAaFQmHX6XTHaxoaPlCr1bZiby9dkObPcPTjjz9uGBkZ2TU1NfUch8NRCAQCh1KpPLhq1arfCQSCiaXW/lKn0Du2iPesZX+nxCykn8WSPuBjiQUCXTb79PPXrl5dySWITFV19dmWltYPyior+6xWa7LYSKZFAf/SpUsKi8Wy2ul0vhAIBNZks1lCoVB81d7efqC1tbXn2rVr4WIJWiwmPUzvKWYOLUawevt68f7evmXJZPLHU1NTj3i8XolEIu5vbmre//Rzz72v0WhKKvW2KOCD4EGfz6ePhkIbLCMjL3vcnlo+nxesrKo621DXeLisouxcY2Nj6mGxlB8mwSiFljNHj1YMWCw7JqwT+6KRmEHA50U0Ou3JpsbmA0/t3Xu2VP4ueM2fca6AmHq32613O92vWm3Wx2iKUoklYk+52dxTXVv7y6qqKsdshQBLGfyity1GJRe90/m98Ozx42XjVutGm8260zplW8vBcNJgNJ02m0xflFVXn9+2bZuj1Dd/Df5i8GH/X+/nZWXZzROTYzsj4chqhmGkMpnMVlVV87rOqLsqEgrt67q6vnnBUKkU/wtrD7x4Fy5ckI4M9W9xudzbfT5fRyQckarVqhFTWfn7NfX1Pc3NzY4Zb14pOC7KtD+DBzhe5DAcw8jkUJfNZns8Eo6uoVkGNZpM5/QG/WmtXP7V9l27QFLnolwq/DDJQSlML5bum/cX8sXRYL712vWrzwX9gTWpVErC4XE9NVVVxzQqzSdru7tH5hs7uSDw7xzwjNFy6tSp8mtXruxyu91PBYOhOoLHy+v0uvNGg+GTqpqa0xAEgRu4wCHIogU0LgXziwVpXu1AxNGtoMrZaAepXx0dHZJcKtUYDAZ2DwwMPBqNxjQEh+Orqq4809S07BMxgvRv3L173lfF3xP8hTATGIDW0dGmYCiwxe32PDYxMdEqEYvTWq22r7y84uiKtrZT4WTynhEm82LmbQ8VYzkX08divaeYvu5sAyKVnNPToLL3M5NWW1cmnZZhOBaSyWTnVnZ0vEvD8A2LxZIuxpN3r/7np/lFSMapU6ekrqmpep/fv2nYYtlLMbSBSxBJuUwOrvn8rNxkOlHG4/mNx47l4J/+FITRFb3fng8z7/XMt9Xv/cYArkuzjY93uJyuLS63q9vt8WjEYrFfqVT2aTSao00m05FzFss3rmSfD0/mB34RPYH1SiwWS9x2e71tcnJPOBZZn0ymzOCKM6PecFWj136p1+guqg2Gia6urllvgrirmyKEbva6fkUQ/BA0ATxTqVQ66/j4Wvv09MZQKNKRyaQ1OTKXUKs1Z/R645cKtaJ33759C74bGAx3EcC/NyLAUj137pzAYbO1T05OPG632x9JJZOVIrGElCnlVo1afUSlUfYIhbJRsVgc6+7unv3UrCjQHwL05kkCAF0ikXDD4bCKzubXTjumtjkdjuXxWFwqFApDIrGo32gyfdxc3Xpp867Nvnl2M6suff3LhfJ4tikU/O7SpUsit93eNjw6vC3g83enUqkqiqEJpVo1rFKpL+h0hnNGo/FGdXW1y2g0AgEohNmAKKrClbnf0pKwWEy+33tu1R2QhLzeimg0vsrn8+3wBfy1sUiEiyCIr7q6ulej056QKZWXaJr2L6an9JbmLxT2+7MJDPDQoUO8WCxW7vW6Nng83qcnxsbaYATBhUJRWKtRD7Usbz1uNleelEql1jsrRT4IEBa7j2IFFqTADQ8OrnV7PDscdvtqj9tj5BIEuAXcBoJCm5qaDpEMMwTuCVxM4Bdp2i+ObTNlQwYHByui0VCX0+HsTCSSrTmS1GIomleplFMajaZPLpVfUesUI3K51o0gSGipc9yKo/5mq2IBnUvT+/r6eODGDr/HX+PyuuqDgcCKeDzenIgnVBDDpOQy+ZBCqbwglysvNC9vHjxx4kRqIVb94lr7pXDstraAeceOHeOn02mtx+OoCAbDGwP+wNpYLF5N0zTO5XLDIpFoXKNWD5jM5r76+vo+oxEP9fSMZhdb6osfwuLNijO5hqFQqDroD672+/1toWCgMpvNqRiI4RAcIqaSKy6r1erzSp0GLIPTxUTk3D2W4mheBIOveDbOtARCYLFY8GuXr62wTlu7XE7H6nA0Us0ykJogCEShUHjVWvV1oVB4nk8Qdh6H4xXx+WGzVptYrlanocbGJa1vU/qIZn8COGpeeOEFfHJyUhAKhUTRaFSWS+cq0pnkingssS4cCZuTiSTKsExEwBdMy+Ty0drq2hM6k26ouro6uFSRUDOi8a2AP8Mqm83GnZiYUPtcvhp/0LsyHIqsD4aC9WSelCAoShEEEdWpVG6pVDomk8kGFQrpkFIin0xQFLiJmuru7i7cpFzMaVZxujALiPN4EAj3gQMHEJVKBaZ3dTaVrYmEQ83RWLQpEAxWxqIxbY7MSTg4J8vn86ekMtkVvU5zobKmZogkyent27ff89rzWU32efpJFx38Unh1O5N8Pp8mHo+vtNvtm0OhUEssFjOQuZxYwOMyQoEwrlDInGqValCjM5zXqKRDhFAWEIvFcUkqldG1twNmzeu8ANAActfnyb+7sLh1EEPk83ml1+utCIfDyyOhSJff76sEpVKy2SxGMzTJ5/PDSqVqXKlQXlDKlJfVBvWYQCBIdHd3g+TRxSLnvpPYooM/nykTTI+rVq3Co9Go1Ov1mpOpZHU6lW7M5XKtFElWU/mclKFoBIbhJMizJ7hcr4DPj4qEoohILPaLRSKPVCZyc4V8nwQXhAmZLL6U8QMgcrmvr4/gcDgEFad4sVRAHAyHVcFQVJdIRA2JeFKdymRkuVxOSeZJcOW7BoJYDMPxJMHBpwiCsHD5/CE+n2+XSCR2g8EQyOVy96wltBiG5my4LDr4pWj+bASNj48TAwMDkkQiYYglY43xULg5kUjWJBLxshy4wYplCQ7OAZcUszyCm+XxeFEej+sXCPhugsO1E1yuQ8jjuVgECXEEgjSHZXMcDMsLeDwqzyEZOSalGaGQjcVikFAoZCEoBolEQjYaLVzEXNA4GQRBcTQBo6gCzmQyCEjTzmQyOAFB3GQ6LczmcpIcSUpzuZw0m8mBP2WZbFqVTmU06XRKm8lkpLl8HqUpGmIhFlQIS/N5PDdI4BRKxMPgTl2wpZVIJIlYLPatGbOLDv58NH82gQGBip6ERxawBfQej6c8EglVpZPJijyVN8AMZKRpWs0wjBDcvgPy7XEUS2MYFsJw3IuiqA9sE2EUjqMIlkIxLIujKIngSCEvn0UQGoVQhkUQliBA5hbA9+YHoiHwC5iB8yjDwChFsRjD5AmWhbgwzYoZiFFQNK2gKEqWz1MSKk+JGJrh0lSeQ1M0RjEMSA6lYQQJ4BjuwjkcF4fLccvEYptCJptWymQeQiIJbdu2reRLKOfD2/s9cxf4SzXFLJRwkB+YCATU0Wyyyu/xrfa4vW2RcNicTCZkWZLk5zJZAkzHhX5gGFy1SeOgGAOHQ3MJguFwQGEGDg3jKI1hKIUgCAXDKINjKM0iECjOUMjRBBdjgnWbZWiMohmczlOFmjxknsTBn7lcDsvn82g+n0cKt3ZDMIWheBY4Yfg8boLPF8REYklALpNdVyrVfSatabi8oRx46oo34hbKrCKffyg0vxhab7lB0WQyySGgnCGWzBgSyZQxk81pyWxWSWZJZY4klWAKzuay0nw+L2YhiA9DEI+BWA7DsijIxQc+Y5BiPZOlC/5+y4Fzy5EDrkIGV7MX7mktOHaAWABtRhA4C8MImGFSGIYlURRJIBAa5hGEl8fnuzlcrofH5XoxggjweDwfTdNhIBQLrhNcDIPm0eYPBvyZ07pbQkBQFEWk0wFuMpnmkgmKE08kCC6OS/Mwo6AZRkXnGT3D0hqaorTZHKnK5XNgmhbl83kOqLLFQmCuL2g5ALig9beuwgW5y4UZAcwOKIqRGIanOTgWwzDci+OYi4PjbhTF/SySDzE5KIKhaBwXCNIEQWRFIlFWpVKRgUCAtFgs97hebaGW0T2QLvG1f0Dgzy3awFh0Op28TCYjJJNJGUlR8mwupUins7JMNivJ52lhNpsjGIjBIIYG9XbgmXRtFoZZIAksW9hmMRiGUQgGkyiK5QiCSIMCygIuP4hzsSCPJwKeyLhEIkmt43KzUEllX++P0O+/LRHJudkzq4tgHo89XI/caaeAf4OZ2+l0cnw+HweCIBxKp3GGywVWO4ZhGPAhIfk8UhB+FlMOz7IAAABOSURBVMpBZA6CcBxnoVwOolCU4fP5NEmSYM8N/AeUSCTKa2iadENQvvgav0sP4L2QKKbnPyrNf5hEsljDuRiQlipA5V/Bf5gk5gHT8v8DdDlCWmujUWgAAAAASUVORK5CYII="/>
          <p:cNvSpPr>
            <a:spLocks noChangeAspect="1" noChangeArrowheads="1"/>
          </p:cNvSpPr>
          <p:nvPr/>
        </p:nvSpPr>
        <p:spPr bwMode="auto">
          <a:xfrm flipV="1">
            <a:off x="5832628" y="1846554"/>
            <a:ext cx="3686043" cy="368605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34324070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41195" y="1137256"/>
            <a:ext cx="11436822" cy="4908082"/>
          </a:xfrm>
        </p:spPr>
        <p:txBody>
          <a:bodyPr vert="horz" lIns="91440" tIns="45720" rIns="91440" bIns="45720" rtlCol="0" anchor="t">
            <a:normAutofit fontScale="92500" lnSpcReduction="10000"/>
          </a:bodyPr>
          <a:lstStyle/>
          <a:p>
            <a:pPr algn="just"/>
            <a:r>
              <a:rPr lang="en-US" sz="3600">
                <a:latin typeface="Times New Roman"/>
                <a:cs typeface="Times New Roman"/>
              </a:rPr>
              <a:t>Digital images are essential in multimedia technology.</a:t>
            </a:r>
          </a:p>
          <a:p>
            <a:pPr algn="just"/>
            <a:endParaRPr lang="en-US" sz="3600">
              <a:latin typeface="Times New Roman"/>
              <a:cs typeface="Times New Roman"/>
            </a:endParaRPr>
          </a:p>
          <a:p>
            <a:pPr algn="just"/>
            <a:r>
              <a:rPr lang="en-US" sz="3600">
                <a:latin typeface="Times New Roman"/>
                <a:cs typeface="Times New Roman"/>
              </a:rPr>
              <a:t>With the increase in digital communication, concerns about data security and privacy breaches increase too. </a:t>
            </a:r>
          </a:p>
          <a:p>
            <a:endParaRPr lang="en-US" sz="3600">
              <a:latin typeface="Times New Roman"/>
              <a:cs typeface="Times New Roman"/>
            </a:endParaRPr>
          </a:p>
          <a:p>
            <a:pPr algn="just"/>
            <a:r>
              <a:rPr lang="en-US" sz="3600">
                <a:latin typeface="Times New Roman"/>
                <a:cs typeface="Times New Roman"/>
              </a:rPr>
              <a:t>Keeping secret data hidden and safe from unauthorized access is crucial.</a:t>
            </a:r>
          </a:p>
          <a:p>
            <a:endParaRPr lang="en-US" sz="3600">
              <a:latin typeface="Times New Roman"/>
              <a:cs typeface="Times New Roman"/>
            </a:endParaRPr>
          </a:p>
          <a:p>
            <a:r>
              <a:rPr lang="en-US" sz="3300">
                <a:latin typeface="Times New Roman"/>
                <a:cs typeface="Times New Roman"/>
              </a:rPr>
              <a:t>Sensitive data leaking and falling into the wrong hands can lead to grave danger. </a:t>
            </a:r>
            <a:endParaRPr lang="en-US" sz="3600">
              <a:latin typeface="Times New Roman"/>
              <a:cs typeface="Times New Roman"/>
            </a:endParaRPr>
          </a:p>
          <a:p>
            <a:endParaRPr lang="en-US" sz="3600">
              <a:latin typeface="Times New Roman"/>
              <a:cs typeface="Times New Roman"/>
            </a:endParaRPr>
          </a:p>
        </p:txBody>
      </p:sp>
      <p:sp>
        <p:nvSpPr>
          <p:cNvPr id="3" name="Title 2"/>
          <p:cNvSpPr>
            <a:spLocks noGrp="1"/>
          </p:cNvSpPr>
          <p:nvPr>
            <p:ph type="title"/>
          </p:nvPr>
        </p:nvSpPr>
        <p:spPr/>
        <p:txBody>
          <a:bodyPr/>
          <a:lstStyle/>
          <a:p>
            <a:r>
              <a:rPr lang="en-US" sz="4800" b="1">
                <a:latin typeface="Times New Roman"/>
                <a:cs typeface="Times New Roman"/>
              </a:rPr>
              <a:t>Introduction</a:t>
            </a:r>
            <a:endParaRPr lang="en-IN" sz="4400" b="1">
              <a:latin typeface="Times New Roman"/>
              <a:cs typeface="Times New Roman"/>
            </a:endParaRPr>
          </a:p>
        </p:txBody>
      </p:sp>
      <p:sp>
        <p:nvSpPr>
          <p:cNvPr id="4" name="Footer Placeholder 3"/>
          <p:cNvSpPr>
            <a:spLocks noGrp="1"/>
          </p:cNvSpPr>
          <p:nvPr>
            <p:ph type="ftr" sz="quarter" idx="11"/>
          </p:nvPr>
        </p:nvSpPr>
        <p:spPr/>
        <p:txBody>
          <a:bodyPr/>
          <a:lstStyle/>
          <a:p>
            <a:r>
              <a:rPr lang="en-US">
                <a:solidFill>
                  <a:prstClr val="white"/>
                </a:solidFill>
              </a:rPr>
              <a:t>21AIE312</a:t>
            </a:r>
            <a:endParaRPr lang="en-US"/>
          </a:p>
        </p:txBody>
      </p:sp>
      <p:sp>
        <p:nvSpPr>
          <p:cNvPr id="5" name="Slide Number Placeholder 4"/>
          <p:cNvSpPr>
            <a:spLocks noGrp="1"/>
          </p:cNvSpPr>
          <p:nvPr>
            <p:ph type="sldNum" sz="quarter" idx="12"/>
          </p:nvPr>
        </p:nvSpPr>
        <p:spPr/>
        <p:txBody>
          <a:bodyPr/>
          <a:lstStyle/>
          <a:p>
            <a:fld id="{71766878-3199-4EAB-94E7-2D6D11070E14}" type="slidenum">
              <a:rPr lang="en-US" smtClean="0"/>
              <a:pPr/>
              <a:t>3</a:t>
            </a:fld>
            <a:endParaRPr lang="en-US"/>
          </a:p>
        </p:txBody>
      </p:sp>
    </p:spTree>
    <p:extLst>
      <p:ext uri="{BB962C8B-B14F-4D97-AF65-F5344CB8AC3E}">
        <p14:creationId xmlns:p14="http://schemas.microsoft.com/office/powerpoint/2010/main" val="35007642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41195" y="1137256"/>
            <a:ext cx="11436822" cy="5217299"/>
          </a:xfrm>
        </p:spPr>
        <p:txBody>
          <a:bodyPr vert="horz" lIns="91440" tIns="45720" rIns="91440" bIns="45720" rtlCol="0" anchor="t">
            <a:normAutofit/>
          </a:bodyPr>
          <a:lstStyle/>
          <a:p>
            <a:pPr algn="just"/>
            <a:r>
              <a:rPr lang="en-US" sz="3600">
                <a:latin typeface="Times New Roman"/>
                <a:cs typeface="Times New Roman"/>
              </a:rPr>
              <a:t>To Address these issues:</a:t>
            </a:r>
          </a:p>
          <a:p>
            <a:pPr algn="just"/>
            <a:endParaRPr lang="en-US" sz="3600">
              <a:latin typeface="Times New Roman"/>
              <a:cs typeface="Times New Roman"/>
            </a:endParaRPr>
          </a:p>
          <a:p>
            <a:pPr algn="just"/>
            <a:endParaRPr lang="en-US" sz="3600">
              <a:latin typeface="Times New Roman"/>
              <a:cs typeface="Times New Roman"/>
            </a:endParaRPr>
          </a:p>
          <a:p>
            <a:endParaRPr lang="en-US" sz="3600">
              <a:latin typeface="Times New Roman"/>
              <a:cs typeface="Times New Roman"/>
            </a:endParaRPr>
          </a:p>
          <a:p>
            <a:endParaRPr lang="en-US" sz="3600">
              <a:latin typeface="Times New Roman"/>
              <a:cs typeface="Times New Roman"/>
            </a:endParaRPr>
          </a:p>
          <a:p>
            <a:endParaRPr lang="en-US" sz="3600">
              <a:latin typeface="Times New Roman"/>
              <a:cs typeface="Times New Roman"/>
            </a:endParaRPr>
          </a:p>
        </p:txBody>
      </p:sp>
      <p:sp>
        <p:nvSpPr>
          <p:cNvPr id="3" name="Title 2"/>
          <p:cNvSpPr>
            <a:spLocks noGrp="1"/>
          </p:cNvSpPr>
          <p:nvPr>
            <p:ph type="title"/>
          </p:nvPr>
        </p:nvSpPr>
        <p:spPr/>
        <p:txBody>
          <a:bodyPr/>
          <a:lstStyle/>
          <a:p>
            <a:r>
              <a:rPr lang="en-US" sz="4800" b="1">
                <a:latin typeface="Times New Roman"/>
                <a:cs typeface="Times New Roman"/>
              </a:rPr>
              <a:t>Introduction Cont.</a:t>
            </a:r>
            <a:endParaRPr lang="en-IN" sz="4400" b="1">
              <a:latin typeface="Times New Roman"/>
              <a:cs typeface="Times New Roman"/>
            </a:endParaRPr>
          </a:p>
        </p:txBody>
      </p:sp>
      <p:sp>
        <p:nvSpPr>
          <p:cNvPr id="4" name="Footer Placeholder 3"/>
          <p:cNvSpPr>
            <a:spLocks noGrp="1"/>
          </p:cNvSpPr>
          <p:nvPr>
            <p:ph type="ftr" sz="quarter" idx="11"/>
          </p:nvPr>
        </p:nvSpPr>
        <p:spPr/>
        <p:txBody>
          <a:bodyPr/>
          <a:lstStyle/>
          <a:p>
            <a:r>
              <a:rPr lang="en-US">
                <a:solidFill>
                  <a:prstClr val="white"/>
                </a:solidFill>
              </a:rPr>
              <a:t>21AIE312</a:t>
            </a:r>
            <a:endParaRPr lang="en-US"/>
          </a:p>
        </p:txBody>
      </p:sp>
      <p:sp>
        <p:nvSpPr>
          <p:cNvPr id="5" name="Slide Number Placeholder 4"/>
          <p:cNvSpPr>
            <a:spLocks noGrp="1"/>
          </p:cNvSpPr>
          <p:nvPr>
            <p:ph type="sldNum" sz="quarter" idx="12"/>
          </p:nvPr>
        </p:nvSpPr>
        <p:spPr/>
        <p:txBody>
          <a:bodyPr/>
          <a:lstStyle/>
          <a:p>
            <a:fld id="{71766878-3199-4EAB-94E7-2D6D11070E14}" type="slidenum">
              <a:rPr lang="en-US" smtClean="0"/>
              <a:pPr/>
              <a:t>4</a:t>
            </a:fld>
            <a:endParaRPr lang="en-US"/>
          </a:p>
        </p:txBody>
      </p:sp>
      <p:sp>
        <p:nvSpPr>
          <p:cNvPr id="6" name="Rectangle 5">
            <a:extLst>
              <a:ext uri="{FF2B5EF4-FFF2-40B4-BE49-F238E27FC236}">
                <a16:creationId xmlns:a16="http://schemas.microsoft.com/office/drawing/2014/main" id="{834F7057-654D-DD3C-4A5B-9CF022B40D21}"/>
              </a:ext>
            </a:extLst>
          </p:cNvPr>
          <p:cNvSpPr/>
          <p:nvPr/>
        </p:nvSpPr>
        <p:spPr>
          <a:xfrm>
            <a:off x="816665" y="2140226"/>
            <a:ext cx="2440607" cy="34124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cs typeface="Calibri"/>
              </a:rPr>
              <a:t>Deep Learning models</a:t>
            </a:r>
          </a:p>
          <a:p>
            <a:pPr algn="ctr"/>
            <a:endParaRPr lang="en-US" sz="2800" b="1">
              <a:cs typeface="Calibri"/>
            </a:endParaRPr>
          </a:p>
          <a:p>
            <a:pPr algn="ctr"/>
            <a:endParaRPr lang="en-US" sz="2800" b="1">
              <a:cs typeface="Calibri"/>
            </a:endParaRPr>
          </a:p>
          <a:p>
            <a:pPr algn="ctr"/>
            <a:endParaRPr lang="en-US" sz="2800" b="1">
              <a:cs typeface="Calibri"/>
            </a:endParaRPr>
          </a:p>
          <a:p>
            <a:pPr algn="ctr"/>
            <a:endParaRPr lang="en-US" sz="2800" b="1">
              <a:cs typeface="Calibri"/>
            </a:endParaRPr>
          </a:p>
          <a:p>
            <a:pPr algn="ctr"/>
            <a:endParaRPr lang="en-US" sz="2800" b="1">
              <a:cs typeface="Calibri"/>
            </a:endParaRPr>
          </a:p>
        </p:txBody>
      </p:sp>
      <p:sp>
        <p:nvSpPr>
          <p:cNvPr id="7" name="Rectangle 6">
            <a:extLst>
              <a:ext uri="{FF2B5EF4-FFF2-40B4-BE49-F238E27FC236}">
                <a16:creationId xmlns:a16="http://schemas.microsoft.com/office/drawing/2014/main" id="{FFF70A21-B3E9-455C-C1A9-16E8CF6275E0}"/>
              </a:ext>
            </a:extLst>
          </p:cNvPr>
          <p:cNvSpPr/>
          <p:nvPr/>
        </p:nvSpPr>
        <p:spPr>
          <a:xfrm>
            <a:off x="4737100" y="2140226"/>
            <a:ext cx="2440607" cy="22307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b="1">
                <a:cs typeface="Calibri"/>
              </a:rPr>
              <a:t>Steganography</a:t>
            </a:r>
            <a:endParaRPr lang="en-US" b="1">
              <a:cs typeface="Calibri"/>
            </a:endParaRPr>
          </a:p>
          <a:p>
            <a:pPr algn="ctr"/>
            <a:endParaRPr lang="en-US" sz="2800" b="1">
              <a:cs typeface="Calibri"/>
            </a:endParaRPr>
          </a:p>
          <a:p>
            <a:pPr algn="ctr"/>
            <a:endParaRPr lang="en-US" sz="2800" b="1">
              <a:cs typeface="Calibri"/>
            </a:endParaRPr>
          </a:p>
          <a:p>
            <a:pPr algn="ctr"/>
            <a:endParaRPr lang="en-US" sz="2800" b="1">
              <a:cs typeface="Calibri"/>
            </a:endParaRPr>
          </a:p>
          <a:p>
            <a:pPr algn="ctr"/>
            <a:endParaRPr lang="en-US" sz="2800" b="1">
              <a:cs typeface="Calibri"/>
            </a:endParaRPr>
          </a:p>
        </p:txBody>
      </p:sp>
      <p:sp>
        <p:nvSpPr>
          <p:cNvPr id="8" name="Rectangle 7">
            <a:extLst>
              <a:ext uri="{FF2B5EF4-FFF2-40B4-BE49-F238E27FC236}">
                <a16:creationId xmlns:a16="http://schemas.microsoft.com/office/drawing/2014/main" id="{7FA2CC8D-D95D-3360-BD20-9A81AD7A2122}"/>
              </a:ext>
            </a:extLst>
          </p:cNvPr>
          <p:cNvSpPr/>
          <p:nvPr/>
        </p:nvSpPr>
        <p:spPr>
          <a:xfrm>
            <a:off x="8436665" y="2140226"/>
            <a:ext cx="2937563" cy="198782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b="1">
                <a:cs typeface="Calibri"/>
              </a:rPr>
              <a:t>SRGAN</a:t>
            </a:r>
            <a:endParaRPr lang="en-US" b="1">
              <a:cs typeface="Calibri"/>
            </a:endParaRPr>
          </a:p>
          <a:p>
            <a:pPr algn="ctr"/>
            <a:endParaRPr lang="en-US" sz="2800" b="1">
              <a:cs typeface="Calibri"/>
            </a:endParaRPr>
          </a:p>
          <a:p>
            <a:pPr algn="ctr"/>
            <a:endParaRPr lang="en-US" sz="2800" b="1">
              <a:cs typeface="Calibri"/>
            </a:endParaRPr>
          </a:p>
          <a:p>
            <a:pPr algn="ctr"/>
            <a:endParaRPr lang="en-US" sz="2800" b="1">
              <a:cs typeface="Calibri"/>
            </a:endParaRPr>
          </a:p>
        </p:txBody>
      </p:sp>
      <p:sp>
        <p:nvSpPr>
          <p:cNvPr id="10" name="Rectangle 9">
            <a:extLst>
              <a:ext uri="{FF2B5EF4-FFF2-40B4-BE49-F238E27FC236}">
                <a16:creationId xmlns:a16="http://schemas.microsoft.com/office/drawing/2014/main" id="{2A0D4BAA-B13B-90F6-E6C5-2430B9B53193}"/>
              </a:ext>
            </a:extLst>
          </p:cNvPr>
          <p:cNvSpPr/>
          <p:nvPr/>
        </p:nvSpPr>
        <p:spPr>
          <a:xfrm>
            <a:off x="1208432" y="3433140"/>
            <a:ext cx="1667566" cy="508000"/>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a:cs typeface="Calibri"/>
              </a:rPr>
              <a:t>CAE</a:t>
            </a:r>
            <a:endParaRPr lang="en-US" sz="3200" b="1"/>
          </a:p>
        </p:txBody>
      </p:sp>
      <p:sp>
        <p:nvSpPr>
          <p:cNvPr id="11" name="Rectangle 10">
            <a:extLst>
              <a:ext uri="{FF2B5EF4-FFF2-40B4-BE49-F238E27FC236}">
                <a16:creationId xmlns:a16="http://schemas.microsoft.com/office/drawing/2014/main" id="{9C47C542-08C0-7E1A-798D-5F6257FDCBB2}"/>
              </a:ext>
            </a:extLst>
          </p:cNvPr>
          <p:cNvSpPr/>
          <p:nvPr/>
        </p:nvSpPr>
        <p:spPr>
          <a:xfrm>
            <a:off x="1208432" y="4128880"/>
            <a:ext cx="1667566" cy="508000"/>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200" b="1">
                <a:cs typeface="Calibri"/>
              </a:rPr>
              <a:t>VGG 16</a:t>
            </a:r>
            <a:endParaRPr lang="en-US"/>
          </a:p>
        </p:txBody>
      </p:sp>
      <p:sp>
        <p:nvSpPr>
          <p:cNvPr id="12" name="Rectangle 11">
            <a:extLst>
              <a:ext uri="{FF2B5EF4-FFF2-40B4-BE49-F238E27FC236}">
                <a16:creationId xmlns:a16="http://schemas.microsoft.com/office/drawing/2014/main" id="{B50C28D9-C15F-F3AA-53D7-F27C3EEB6868}"/>
              </a:ext>
            </a:extLst>
          </p:cNvPr>
          <p:cNvSpPr/>
          <p:nvPr/>
        </p:nvSpPr>
        <p:spPr>
          <a:xfrm>
            <a:off x="1120084" y="4890880"/>
            <a:ext cx="1932609" cy="530086"/>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200" b="1">
                <a:cs typeface="Calibri"/>
              </a:rPr>
              <a:t>ResNet50</a:t>
            </a:r>
            <a:endParaRPr lang="en-US"/>
          </a:p>
        </p:txBody>
      </p:sp>
      <p:sp>
        <p:nvSpPr>
          <p:cNvPr id="13" name="Rectangle 12">
            <a:extLst>
              <a:ext uri="{FF2B5EF4-FFF2-40B4-BE49-F238E27FC236}">
                <a16:creationId xmlns:a16="http://schemas.microsoft.com/office/drawing/2014/main" id="{B8C21EF9-2FD7-9EE2-C1E4-048A457251A9}"/>
              </a:ext>
            </a:extLst>
          </p:cNvPr>
          <p:cNvSpPr/>
          <p:nvPr/>
        </p:nvSpPr>
        <p:spPr>
          <a:xfrm>
            <a:off x="9005128" y="2781575"/>
            <a:ext cx="1932609" cy="530086"/>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200" b="1">
                <a:cs typeface="Calibri"/>
              </a:rPr>
              <a:t>Generator</a:t>
            </a:r>
          </a:p>
        </p:txBody>
      </p:sp>
      <p:sp>
        <p:nvSpPr>
          <p:cNvPr id="14" name="Rectangle 13">
            <a:extLst>
              <a:ext uri="{FF2B5EF4-FFF2-40B4-BE49-F238E27FC236}">
                <a16:creationId xmlns:a16="http://schemas.microsoft.com/office/drawing/2014/main" id="{547C6674-F80E-13E6-4BCD-2AE1441C93EC}"/>
              </a:ext>
            </a:extLst>
          </p:cNvPr>
          <p:cNvSpPr/>
          <p:nvPr/>
        </p:nvSpPr>
        <p:spPr>
          <a:xfrm>
            <a:off x="8629649" y="3433141"/>
            <a:ext cx="2562087" cy="508000"/>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200" b="1">
                <a:cs typeface="Calibri"/>
              </a:rPr>
              <a:t>Discriminator</a:t>
            </a:r>
            <a:endParaRPr lang="en-US"/>
          </a:p>
        </p:txBody>
      </p:sp>
      <p:sp>
        <p:nvSpPr>
          <p:cNvPr id="15" name="Rectangle 14">
            <a:extLst>
              <a:ext uri="{FF2B5EF4-FFF2-40B4-BE49-F238E27FC236}">
                <a16:creationId xmlns:a16="http://schemas.microsoft.com/office/drawing/2014/main" id="{98AABD54-24AA-AA4C-4D67-2DD1DF88C3A1}"/>
              </a:ext>
            </a:extLst>
          </p:cNvPr>
          <p:cNvSpPr/>
          <p:nvPr/>
        </p:nvSpPr>
        <p:spPr>
          <a:xfrm>
            <a:off x="4996345" y="2869923"/>
            <a:ext cx="1932609" cy="530086"/>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200" b="1">
                <a:cs typeface="Calibri"/>
              </a:rPr>
              <a:t>LSB</a:t>
            </a:r>
            <a:endParaRPr lang="en-US"/>
          </a:p>
        </p:txBody>
      </p:sp>
      <p:sp>
        <p:nvSpPr>
          <p:cNvPr id="16" name="Rectangle 15">
            <a:extLst>
              <a:ext uri="{FF2B5EF4-FFF2-40B4-BE49-F238E27FC236}">
                <a16:creationId xmlns:a16="http://schemas.microsoft.com/office/drawing/2014/main" id="{20C65E73-C0D8-8E8F-3FD2-1D07645041C2}"/>
              </a:ext>
            </a:extLst>
          </p:cNvPr>
          <p:cNvSpPr/>
          <p:nvPr/>
        </p:nvSpPr>
        <p:spPr>
          <a:xfrm>
            <a:off x="4996344" y="3521489"/>
            <a:ext cx="1954697" cy="508000"/>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200" b="1">
                <a:cs typeface="Calibri"/>
              </a:rPr>
              <a:t>Sprite</a:t>
            </a:r>
            <a:endParaRPr lang="en-US"/>
          </a:p>
        </p:txBody>
      </p:sp>
      <p:sp>
        <p:nvSpPr>
          <p:cNvPr id="18" name="Minus Sign 17">
            <a:extLst>
              <a:ext uri="{FF2B5EF4-FFF2-40B4-BE49-F238E27FC236}">
                <a16:creationId xmlns:a16="http://schemas.microsoft.com/office/drawing/2014/main" id="{C95D2ED4-BC1F-AE07-331E-345454A4F3FF}"/>
              </a:ext>
            </a:extLst>
          </p:cNvPr>
          <p:cNvSpPr/>
          <p:nvPr/>
        </p:nvSpPr>
        <p:spPr>
          <a:xfrm>
            <a:off x="3257273" y="3046067"/>
            <a:ext cx="1479824" cy="408609"/>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Minus Sign 18">
            <a:extLst>
              <a:ext uri="{FF2B5EF4-FFF2-40B4-BE49-F238E27FC236}">
                <a16:creationId xmlns:a16="http://schemas.microsoft.com/office/drawing/2014/main" id="{5FF47CA3-8B76-F733-09AF-B5E766196D60}"/>
              </a:ext>
            </a:extLst>
          </p:cNvPr>
          <p:cNvSpPr/>
          <p:nvPr/>
        </p:nvSpPr>
        <p:spPr>
          <a:xfrm>
            <a:off x="7177419" y="3046067"/>
            <a:ext cx="1264389" cy="388662"/>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253597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3872BC36-9F64-B47A-9F4E-D470CF885A44}"/>
              </a:ext>
            </a:extLst>
          </p:cNvPr>
          <p:cNvGraphicFramePr>
            <a:graphicFrameLocks noGrp="1"/>
          </p:cNvGraphicFramePr>
          <p:nvPr>
            <p:ph idx="1"/>
            <p:extLst>
              <p:ext uri="{D42A27DB-BD31-4B8C-83A1-F6EECF244321}">
                <p14:modId xmlns:p14="http://schemas.microsoft.com/office/powerpoint/2010/main" val="1615899620"/>
              </p:ext>
            </p:extLst>
          </p:nvPr>
        </p:nvGraphicFramePr>
        <p:xfrm>
          <a:off x="107323" y="461492"/>
          <a:ext cx="11987466" cy="5878718"/>
        </p:xfrm>
        <a:graphic>
          <a:graphicData uri="http://schemas.openxmlformats.org/drawingml/2006/table">
            <a:tbl>
              <a:tblPr firstRow="1" bandRow="1">
                <a:tableStyleId>{5C22544A-7EE6-4342-B048-85BDC9FD1C3A}</a:tableStyleId>
              </a:tblPr>
              <a:tblGrid>
                <a:gridCol w="753071">
                  <a:extLst>
                    <a:ext uri="{9D8B030D-6E8A-4147-A177-3AD203B41FA5}">
                      <a16:colId xmlns:a16="http://schemas.microsoft.com/office/drawing/2014/main" val="1938507199"/>
                    </a:ext>
                  </a:extLst>
                </a:gridCol>
                <a:gridCol w="3407267">
                  <a:extLst>
                    <a:ext uri="{9D8B030D-6E8A-4147-A177-3AD203B41FA5}">
                      <a16:colId xmlns:a16="http://schemas.microsoft.com/office/drawing/2014/main" val="3417225804"/>
                    </a:ext>
                  </a:extLst>
                </a:gridCol>
                <a:gridCol w="3133591">
                  <a:extLst>
                    <a:ext uri="{9D8B030D-6E8A-4147-A177-3AD203B41FA5}">
                      <a16:colId xmlns:a16="http://schemas.microsoft.com/office/drawing/2014/main" val="2482234300"/>
                    </a:ext>
                  </a:extLst>
                </a:gridCol>
                <a:gridCol w="4693537">
                  <a:extLst>
                    <a:ext uri="{9D8B030D-6E8A-4147-A177-3AD203B41FA5}">
                      <a16:colId xmlns:a16="http://schemas.microsoft.com/office/drawing/2014/main" val="4271147483"/>
                    </a:ext>
                  </a:extLst>
                </a:gridCol>
              </a:tblGrid>
              <a:tr h="564597">
                <a:tc>
                  <a:txBody>
                    <a:bodyPr/>
                    <a:lstStyle/>
                    <a:p>
                      <a:pPr lvl="0" algn="ctr">
                        <a:lnSpc>
                          <a:spcPct val="100000"/>
                        </a:lnSpc>
                        <a:spcBef>
                          <a:spcPts val="0"/>
                        </a:spcBef>
                        <a:spcAft>
                          <a:spcPts val="0"/>
                        </a:spcAft>
                        <a:buNone/>
                      </a:pPr>
                      <a:r>
                        <a:rPr lang="en-US" sz="1600" b="1" i="0" u="none" strike="noStrike" noProof="0">
                          <a:solidFill>
                            <a:srgbClr val="FFFFFF"/>
                          </a:solidFill>
                          <a:latin typeface="Calibri"/>
                        </a:rPr>
                        <a:t>Sl. No.</a:t>
                      </a:r>
                      <a:endParaRPr lang="en-US" sz="1600"/>
                    </a:p>
                  </a:txBody>
                  <a:tcPr anchor="ctr"/>
                </a:tc>
                <a:tc>
                  <a:txBody>
                    <a:bodyPr/>
                    <a:lstStyle/>
                    <a:p>
                      <a:pPr lvl="0" algn="ctr">
                        <a:lnSpc>
                          <a:spcPct val="100000"/>
                        </a:lnSpc>
                        <a:spcBef>
                          <a:spcPts val="0"/>
                        </a:spcBef>
                        <a:spcAft>
                          <a:spcPts val="0"/>
                        </a:spcAft>
                        <a:buNone/>
                      </a:pPr>
                      <a:r>
                        <a:rPr lang="en-US" sz="1800" b="1" i="0" u="none" strike="noStrike" noProof="0">
                          <a:solidFill>
                            <a:srgbClr val="FFFFFF"/>
                          </a:solidFill>
                          <a:latin typeface="Calibri"/>
                        </a:rPr>
                        <a:t>Paper Title</a:t>
                      </a:r>
                      <a:endParaRPr lang="en-US" sz="1800"/>
                    </a:p>
                  </a:txBody>
                  <a:tcPr anchor="ctr"/>
                </a:tc>
                <a:tc>
                  <a:txBody>
                    <a:bodyPr/>
                    <a:lstStyle/>
                    <a:p>
                      <a:pPr lvl="0" algn="ctr">
                        <a:lnSpc>
                          <a:spcPct val="100000"/>
                        </a:lnSpc>
                        <a:spcBef>
                          <a:spcPts val="0"/>
                        </a:spcBef>
                        <a:spcAft>
                          <a:spcPts val="0"/>
                        </a:spcAft>
                        <a:buNone/>
                      </a:pPr>
                      <a:r>
                        <a:rPr lang="en-US" sz="1800" b="1" i="0" u="none" strike="noStrike" noProof="0">
                          <a:solidFill>
                            <a:srgbClr val="FFFFFF"/>
                          </a:solidFill>
                          <a:latin typeface="Calibri"/>
                        </a:rPr>
                        <a:t>Year, publisher Author’s Name </a:t>
                      </a:r>
                      <a:endParaRPr lang="en-US" sz="1800"/>
                    </a:p>
                  </a:txBody>
                  <a:tcPr anchor="ctr"/>
                </a:tc>
                <a:tc>
                  <a:txBody>
                    <a:bodyPr/>
                    <a:lstStyle/>
                    <a:p>
                      <a:pPr lvl="0" algn="ctr">
                        <a:lnSpc>
                          <a:spcPct val="100000"/>
                        </a:lnSpc>
                        <a:spcBef>
                          <a:spcPts val="0"/>
                        </a:spcBef>
                        <a:spcAft>
                          <a:spcPts val="0"/>
                        </a:spcAft>
                        <a:buNone/>
                      </a:pPr>
                      <a:r>
                        <a:rPr lang="en-US" sz="1800" b="1" i="0" u="none" strike="noStrike" noProof="0">
                          <a:solidFill>
                            <a:srgbClr val="FFFFFF"/>
                          </a:solidFill>
                          <a:latin typeface="Calibri"/>
                        </a:rPr>
                        <a:t>Inferences</a:t>
                      </a:r>
                      <a:endParaRPr lang="en-US" sz="1800"/>
                    </a:p>
                  </a:txBody>
                  <a:tcPr anchor="ctr"/>
                </a:tc>
                <a:extLst>
                  <a:ext uri="{0D108BD9-81ED-4DB2-BD59-A6C34878D82A}">
                    <a16:rowId xmlns:a16="http://schemas.microsoft.com/office/drawing/2014/main" val="4088594743"/>
                  </a:ext>
                </a:extLst>
              </a:tr>
              <a:tr h="869786">
                <a:tc>
                  <a:txBody>
                    <a:bodyPr/>
                    <a:lstStyle/>
                    <a:p>
                      <a:pPr algn="ctr"/>
                      <a:r>
                        <a:rPr lang="en-US" sz="1600" b="1"/>
                        <a:t>1</a:t>
                      </a:r>
                    </a:p>
                  </a:txBody>
                  <a:tcPr anchor="ctr"/>
                </a:tc>
                <a:tc>
                  <a:txBody>
                    <a:bodyPr/>
                    <a:lstStyle/>
                    <a:p>
                      <a:pPr lvl="0" algn="ctr">
                        <a:buNone/>
                      </a:pPr>
                      <a:r>
                        <a:rPr lang="en-US" sz="1400" b="1" i="0" u="none" strike="noStrike" noProof="0">
                          <a:latin typeface="Calibri"/>
                        </a:rPr>
                        <a:t>An improved steganography without embedding based on attention GAN</a:t>
                      </a:r>
                      <a:endParaRPr lang="en-US" sz="1400" b="1"/>
                    </a:p>
                  </a:txBody>
                  <a:tcPr anchor="ctr"/>
                </a:tc>
                <a:tc>
                  <a:txBody>
                    <a:bodyPr/>
                    <a:lstStyle/>
                    <a:p>
                      <a:pPr lvl="0" algn="ctr"/>
                      <a:r>
                        <a:rPr lang="en-US" sz="1200" b="1"/>
                        <a:t>2021 </a:t>
                      </a:r>
                      <a:r>
                        <a:rPr lang="en-US" sz="1200"/>
                        <a:t>- </a:t>
                      </a:r>
                      <a:r>
                        <a:rPr lang="en-US" sz="1200" b="0" i="0" u="none" strike="noStrike" noProof="0">
                          <a:latin typeface="Calibri"/>
                        </a:rPr>
                        <a:t>Yu Cong &amp; Hu, Donghui &amp; Zheng, Shuli &amp; Jiang, Wenjie &amp; Li, Meng &amp; Zhao, Zhong-</a:t>
                      </a:r>
                      <a:r>
                        <a:rPr lang="en-US" sz="1200" b="0" i="0" u="none" strike="noStrike" noProof="0" err="1">
                          <a:latin typeface="Calibri"/>
                        </a:rPr>
                        <a:t>qiu</a:t>
                      </a:r>
                      <a:r>
                        <a:rPr lang="en-US" sz="1200" b="0" i="0" u="none" strike="noStrike" noProof="0">
                          <a:latin typeface="Calibri"/>
                        </a:rPr>
                        <a:t>.</a:t>
                      </a:r>
                      <a:endParaRPr lang="en-US" sz="1200"/>
                    </a:p>
                  </a:txBody>
                  <a:tcPr anchor="ctr"/>
                </a:tc>
                <a:tc>
                  <a:txBody>
                    <a:bodyPr/>
                    <a:lstStyle/>
                    <a:p>
                      <a:pPr lvl="0" algn="just">
                        <a:buNone/>
                      </a:pPr>
                      <a:r>
                        <a:rPr lang="en-US" sz="1200" b="1" i="0" u="none" strike="noStrike" noProof="0">
                          <a:latin typeface="Calibri"/>
                        </a:rPr>
                        <a:t>Presents a methodology to enhance information recovery accuracy and steganography capacity using GANs By optimizing training modes and loss functions and incorporating attention mechanisms and soft margin discriminators</a:t>
                      </a:r>
                      <a:endParaRPr lang="en-US" sz="1200" b="1"/>
                    </a:p>
                  </a:txBody>
                  <a:tcPr anchor="ctr"/>
                </a:tc>
                <a:extLst>
                  <a:ext uri="{0D108BD9-81ED-4DB2-BD59-A6C34878D82A}">
                    <a16:rowId xmlns:a16="http://schemas.microsoft.com/office/drawing/2014/main" val="384155337"/>
                  </a:ext>
                </a:extLst>
              </a:tr>
              <a:tr h="854526">
                <a:tc>
                  <a:txBody>
                    <a:bodyPr/>
                    <a:lstStyle/>
                    <a:p>
                      <a:pPr algn="ctr"/>
                      <a:r>
                        <a:rPr lang="en-US" sz="1600" b="1"/>
                        <a:t>2</a:t>
                      </a:r>
                    </a:p>
                  </a:txBody>
                  <a:tcPr anchor="ctr"/>
                </a:tc>
                <a:tc>
                  <a:txBody>
                    <a:bodyPr/>
                    <a:lstStyle/>
                    <a:p>
                      <a:pPr lvl="0" algn="ctr">
                        <a:buNone/>
                      </a:pPr>
                      <a:r>
                        <a:rPr lang="en-US" sz="1400" b="1" i="0" u="none" strike="noStrike" noProof="0">
                          <a:latin typeface="Calibri"/>
                        </a:rPr>
                        <a:t>Image Steganography-A New Approach using Block Truncation Coding and LSB Embedding</a:t>
                      </a:r>
                      <a:endParaRPr lang="en-US" sz="1400" b="1"/>
                    </a:p>
                  </a:txBody>
                  <a:tcPr anchor="ctr"/>
                </a:tc>
                <a:tc>
                  <a:txBody>
                    <a:bodyPr/>
                    <a:lstStyle/>
                    <a:p>
                      <a:pPr algn="ctr"/>
                      <a:r>
                        <a:rPr lang="en-US" sz="1200" b="1"/>
                        <a:t>2022 </a:t>
                      </a:r>
                      <a:r>
                        <a:rPr lang="en-US" sz="1200"/>
                        <a:t>- </a:t>
                      </a:r>
                      <a:r>
                        <a:rPr lang="en-US" sz="1200" b="0" i="0" u="none" strike="noStrike" noProof="0">
                          <a:latin typeface="Calibri"/>
                        </a:rPr>
                        <a:t>P. Mohan, P. B. Menon, P. K. Rahul and K. S. Sidharth</a:t>
                      </a:r>
                      <a:endParaRPr lang="en-US" sz="1200"/>
                    </a:p>
                  </a:txBody>
                  <a:tcPr anchor="ctr"/>
                </a:tc>
                <a:tc>
                  <a:txBody>
                    <a:bodyPr/>
                    <a:lstStyle/>
                    <a:p>
                      <a:pPr lvl="0" algn="just">
                        <a:buNone/>
                      </a:pPr>
                      <a:r>
                        <a:rPr lang="en-US" sz="1200" b="1" i="0" u="none" strike="noStrike" noProof="0">
                          <a:latin typeface="Calibri"/>
                        </a:rPr>
                        <a:t>Proposed a spatial domain steganography method utilizing Least Significant Bit (LSB) embedding and Block Truncation Coding (BTC). By embedding messages into the least significant bit of carrier images and compressing the negative of the input using BTC</a:t>
                      </a:r>
                      <a:endParaRPr lang="en-US" sz="1200" b="1"/>
                    </a:p>
                  </a:txBody>
                  <a:tcPr anchor="ctr"/>
                </a:tc>
                <a:extLst>
                  <a:ext uri="{0D108BD9-81ED-4DB2-BD59-A6C34878D82A}">
                    <a16:rowId xmlns:a16="http://schemas.microsoft.com/office/drawing/2014/main" val="158267963"/>
                  </a:ext>
                </a:extLst>
              </a:tr>
              <a:tr h="1007120">
                <a:tc>
                  <a:txBody>
                    <a:bodyPr/>
                    <a:lstStyle/>
                    <a:p>
                      <a:pPr algn="ctr"/>
                      <a:r>
                        <a:rPr lang="en-US" sz="1600" b="1"/>
                        <a:t>3</a:t>
                      </a:r>
                    </a:p>
                  </a:txBody>
                  <a:tcPr anchor="ctr"/>
                </a:tc>
                <a:tc>
                  <a:txBody>
                    <a:bodyPr/>
                    <a:lstStyle/>
                    <a:p>
                      <a:pPr lvl="0" algn="ctr">
                        <a:lnSpc>
                          <a:spcPct val="100000"/>
                        </a:lnSpc>
                        <a:spcBef>
                          <a:spcPts val="0"/>
                        </a:spcBef>
                        <a:spcAft>
                          <a:spcPts val="0"/>
                        </a:spcAft>
                        <a:buNone/>
                      </a:pPr>
                      <a:r>
                        <a:rPr lang="en-IN" sz="1400" b="1" i="0" u="none" strike="noStrike" noProof="0">
                          <a:solidFill>
                            <a:srgbClr val="000000"/>
                          </a:solidFill>
                          <a:latin typeface="Calibri"/>
                        </a:rPr>
                        <a:t>Encipher GAN: An End-to-End </a:t>
                      </a:r>
                      <a:r>
                        <a:rPr lang="en-IN" sz="1400" b="1" i="0" u="none" strike="noStrike" noProof="0" err="1">
                          <a:solidFill>
                            <a:srgbClr val="000000"/>
                          </a:solidFill>
                          <a:latin typeface="Calibri"/>
                        </a:rPr>
                        <a:t>Color</a:t>
                      </a:r>
                      <a:r>
                        <a:rPr lang="en-IN" sz="1400" b="1" i="0" u="none" strike="noStrike" noProof="0">
                          <a:solidFill>
                            <a:srgbClr val="000000"/>
                          </a:solidFill>
                          <a:latin typeface="Calibri"/>
                        </a:rPr>
                        <a:t> Image Encryption System Using a Deep Generative Model </a:t>
                      </a:r>
                      <a:endParaRPr lang="en-US" sz="1400" b="1" i="0" u="none" strike="noStrike" noProof="0">
                        <a:solidFill>
                          <a:srgbClr val="000000"/>
                        </a:solidFill>
                        <a:latin typeface="Calibri"/>
                      </a:endParaRPr>
                    </a:p>
                  </a:txBody>
                  <a:tcPr anchor="ctr"/>
                </a:tc>
                <a:tc>
                  <a:txBody>
                    <a:bodyPr/>
                    <a:lstStyle/>
                    <a:p>
                      <a:pPr algn="ctr"/>
                      <a:r>
                        <a:rPr lang="en-US" sz="1200" b="1"/>
                        <a:t>2023</a:t>
                      </a:r>
                      <a:r>
                        <a:rPr lang="en-US" sz="1200"/>
                        <a:t> - </a:t>
                      </a:r>
                      <a:r>
                        <a:rPr lang="en-US" sz="1200" b="0" i="0" u="none" strike="noStrike" noProof="0">
                          <a:latin typeface="Calibri"/>
                        </a:rPr>
                        <a:t>Panwar, K. Singh, A. Kukreja, S. Singh, K.K. </a:t>
                      </a:r>
                      <a:r>
                        <a:rPr lang="en-US" sz="1200" b="0" i="0" u="none" strike="noStrike" noProof="0" err="1">
                          <a:latin typeface="Calibri"/>
                        </a:rPr>
                        <a:t>Shakhovska</a:t>
                      </a:r>
                      <a:r>
                        <a:rPr lang="en-US" sz="1200" b="0" i="0" u="none" strike="noStrike" noProof="0">
                          <a:latin typeface="Calibri"/>
                        </a:rPr>
                        <a:t>, N. </a:t>
                      </a:r>
                      <a:r>
                        <a:rPr lang="en-US" sz="1200" b="0" i="0" u="none" strike="noStrike" noProof="0" err="1">
                          <a:latin typeface="Calibri"/>
                        </a:rPr>
                        <a:t>Boichuk</a:t>
                      </a:r>
                      <a:endParaRPr lang="en-US" sz="1200"/>
                    </a:p>
                  </a:txBody>
                  <a:tcPr anchor="ctr"/>
                </a:tc>
                <a:tc>
                  <a:txBody>
                    <a:bodyPr/>
                    <a:lstStyle/>
                    <a:p>
                      <a:pPr lvl="0" algn="just">
                        <a:buNone/>
                      </a:pPr>
                      <a:r>
                        <a:rPr lang="en-US" sz="1200" b="1" i="0" u="none" strike="noStrike" noProof="0">
                          <a:latin typeface="Calibri"/>
                        </a:rPr>
                        <a:t>Discuss the application of generative adversarial networks (GANs), particularly Cycle-GAN, in image encryption schemes. Their proposed encryption scheme, Encipher GAN, employs deep convolutional neural networks to transform plaintext images into cipher images and vice versa.</a:t>
                      </a:r>
                      <a:endParaRPr lang="en-US" sz="1200" b="1"/>
                    </a:p>
                  </a:txBody>
                  <a:tcPr anchor="ctr"/>
                </a:tc>
                <a:extLst>
                  <a:ext uri="{0D108BD9-81ED-4DB2-BD59-A6C34878D82A}">
                    <a16:rowId xmlns:a16="http://schemas.microsoft.com/office/drawing/2014/main" val="3019079758"/>
                  </a:ext>
                </a:extLst>
              </a:tr>
              <a:tr h="752609">
                <a:tc>
                  <a:txBody>
                    <a:bodyPr/>
                    <a:lstStyle/>
                    <a:p>
                      <a:pPr algn="ctr"/>
                      <a:r>
                        <a:rPr lang="en-US" sz="1600" b="1"/>
                        <a:t>4</a:t>
                      </a:r>
                    </a:p>
                  </a:txBody>
                  <a:tcPr anchor="ctr"/>
                </a:tc>
                <a:tc>
                  <a:txBody>
                    <a:bodyPr/>
                    <a:lstStyle/>
                    <a:p>
                      <a:pPr lvl="0" algn="ctr">
                        <a:lnSpc>
                          <a:spcPct val="100000"/>
                        </a:lnSpc>
                        <a:spcBef>
                          <a:spcPts val="0"/>
                        </a:spcBef>
                        <a:spcAft>
                          <a:spcPts val="0"/>
                        </a:spcAft>
                        <a:buNone/>
                      </a:pPr>
                      <a:r>
                        <a:rPr lang="en-IN" sz="1400" b="1" i="0" u="none" strike="noStrike" noProof="0">
                          <a:solidFill>
                            <a:srgbClr val="000000"/>
                          </a:solidFill>
                        </a:rPr>
                        <a:t>High invisibility image steganography with wavelet transform and generative adversarial network</a:t>
                      </a:r>
                      <a:endParaRPr lang="en-IN" sz="1400" b="1" i="0" u="none" strike="noStrike" noProof="0">
                        <a:solidFill>
                          <a:srgbClr val="000000"/>
                        </a:solidFill>
                        <a:latin typeface="Calibri"/>
                      </a:endParaRPr>
                    </a:p>
                  </a:txBody>
                  <a:tcPr anchor="ctr"/>
                </a:tc>
                <a:tc>
                  <a:txBody>
                    <a:bodyPr/>
                    <a:lstStyle/>
                    <a:p>
                      <a:pPr algn="ctr"/>
                      <a:r>
                        <a:rPr lang="en-US" sz="1200" b="1"/>
                        <a:t>2024 </a:t>
                      </a:r>
                      <a:r>
                        <a:rPr lang="en-US" sz="1200"/>
                        <a:t>- </a:t>
                      </a:r>
                      <a:r>
                        <a:rPr lang="en-US" sz="1200" b="0" i="0" u="none" strike="noStrike" noProof="0">
                          <a:latin typeface="Calibri"/>
                        </a:rPr>
                        <a:t>Ye Yao, Junyu Wang, Qi Chang, </a:t>
                      </a:r>
                      <a:r>
                        <a:rPr lang="en-US" sz="1200" b="0" i="0" u="none" strike="noStrike" noProof="0" err="1">
                          <a:latin typeface="Calibri"/>
                        </a:rPr>
                        <a:t>Yizhi</a:t>
                      </a:r>
                      <a:r>
                        <a:rPr lang="en-US" sz="1200" b="0" i="0" u="none" strike="noStrike" noProof="0">
                          <a:latin typeface="Calibri"/>
                        </a:rPr>
                        <a:t> Ren, </a:t>
                      </a:r>
                      <a:r>
                        <a:rPr lang="en-US" sz="1200" b="0" i="0" u="none" strike="noStrike" noProof="0" err="1">
                          <a:latin typeface="Calibri"/>
                        </a:rPr>
                        <a:t>Weizhi</a:t>
                      </a:r>
                      <a:r>
                        <a:rPr lang="en-US" sz="1200" b="0" i="0" u="none" strike="noStrike" noProof="0">
                          <a:latin typeface="Calibri"/>
                        </a:rPr>
                        <a:t> Meng</a:t>
                      </a:r>
                      <a:endParaRPr lang="en-US" sz="1200"/>
                    </a:p>
                  </a:txBody>
                  <a:tcPr anchor="ctr"/>
                </a:tc>
                <a:tc>
                  <a:txBody>
                    <a:bodyPr/>
                    <a:lstStyle/>
                    <a:p>
                      <a:pPr lvl="0" algn="just">
                        <a:buNone/>
                      </a:pPr>
                      <a:r>
                        <a:rPr lang="en-US" sz="1200" b="1" i="0" u="none" strike="noStrike" noProof="0">
                          <a:latin typeface="Calibri"/>
                        </a:rPr>
                        <a:t>Discuss the emergence of deep learning-based steganography methods, combining Discrete Wavelet Transform (DWT) and GANs to enhance embedding capacity and security. </a:t>
                      </a:r>
                      <a:endParaRPr lang="en-US" sz="1200" b="1"/>
                    </a:p>
                  </a:txBody>
                  <a:tcPr anchor="ctr"/>
                </a:tc>
                <a:extLst>
                  <a:ext uri="{0D108BD9-81ED-4DB2-BD59-A6C34878D82A}">
                    <a16:rowId xmlns:a16="http://schemas.microsoft.com/office/drawing/2014/main" val="1558052639"/>
                  </a:ext>
                </a:extLst>
              </a:tr>
              <a:tr h="807344">
                <a:tc>
                  <a:txBody>
                    <a:bodyPr/>
                    <a:lstStyle/>
                    <a:p>
                      <a:pPr algn="ctr"/>
                      <a:r>
                        <a:rPr lang="en-US" sz="1600" b="1"/>
                        <a:t>5</a:t>
                      </a:r>
                    </a:p>
                  </a:txBody>
                  <a:tcPr anchor="ctr"/>
                </a:tc>
                <a:tc>
                  <a:txBody>
                    <a:bodyPr/>
                    <a:lstStyle/>
                    <a:p>
                      <a:pPr lvl="0" algn="ctr">
                        <a:lnSpc>
                          <a:spcPct val="100000"/>
                        </a:lnSpc>
                        <a:spcBef>
                          <a:spcPts val="0"/>
                        </a:spcBef>
                        <a:spcAft>
                          <a:spcPts val="0"/>
                        </a:spcAft>
                        <a:buNone/>
                      </a:pPr>
                      <a:r>
                        <a:rPr lang="en-US" sz="1400" b="1" i="0" u="none" strike="noStrike" noProof="0">
                          <a:solidFill>
                            <a:srgbClr val="000000"/>
                          </a:solidFill>
                        </a:rPr>
                        <a:t>Exploring Advanced Encryption and Steganography Techniques for Image Security</a:t>
                      </a:r>
                      <a:endParaRPr lang="en-US" sz="1400" b="1"/>
                    </a:p>
                  </a:txBody>
                  <a:tcPr anchor="ctr"/>
                </a:tc>
                <a:tc>
                  <a:txBody>
                    <a:bodyPr/>
                    <a:lstStyle/>
                    <a:p>
                      <a:pPr algn="ctr"/>
                      <a:r>
                        <a:rPr lang="en-US" sz="1400" b="1"/>
                        <a:t>2023 - </a:t>
                      </a:r>
                      <a:r>
                        <a:rPr lang="en-US" sz="1400" b="0" i="0" u="none" strike="noStrike" noProof="0">
                          <a:latin typeface="Calibri"/>
                        </a:rPr>
                        <a:t>M. Kataria, K. Jain and N. Subramanian</a:t>
                      </a:r>
                      <a:endParaRPr lang="en-US" sz="1400" b="1"/>
                    </a:p>
                  </a:txBody>
                  <a:tcPr anchor="ctr"/>
                </a:tc>
                <a:tc>
                  <a:txBody>
                    <a:bodyPr/>
                    <a:lstStyle/>
                    <a:p>
                      <a:pPr lvl="0" algn="just">
                        <a:lnSpc>
                          <a:spcPct val="100000"/>
                        </a:lnSpc>
                        <a:spcBef>
                          <a:spcPts val="0"/>
                        </a:spcBef>
                        <a:spcAft>
                          <a:spcPts val="0"/>
                        </a:spcAft>
                        <a:buNone/>
                      </a:pPr>
                      <a:r>
                        <a:rPr lang="en-US" sz="1200" b="1" i="0" u="none" strike="noStrike" noProof="0" err="1"/>
                        <a:t>Stego</a:t>
                      </a:r>
                      <a:r>
                        <a:rPr lang="en-US" sz="1200" b="1" i="0" u="none" strike="noStrike" noProof="0"/>
                        <a:t> images generated using Spread Spectrum method had higher PSNR and MSE values than those generated using the LSB method in terms of the PSNR metric. </a:t>
                      </a:r>
                      <a:r>
                        <a:rPr lang="en-US" sz="1200" b="1" i="0" u="none" strike="noStrike" noProof="0">
                          <a:latin typeface="Calibri"/>
                        </a:rPr>
                        <a:t>AES and ChaCha20 encryption algorithms outperformed DES and RSA in terms of runtime analysis</a:t>
                      </a:r>
                      <a:endParaRPr lang="en-US" b="1"/>
                    </a:p>
                  </a:txBody>
                  <a:tcPr anchor="ctr"/>
                </a:tc>
                <a:extLst>
                  <a:ext uri="{0D108BD9-81ED-4DB2-BD59-A6C34878D82A}">
                    <a16:rowId xmlns:a16="http://schemas.microsoft.com/office/drawing/2014/main" val="2638487161"/>
                  </a:ext>
                </a:extLst>
              </a:tr>
              <a:tr h="1007120">
                <a:tc>
                  <a:txBody>
                    <a:bodyPr/>
                    <a:lstStyle/>
                    <a:p>
                      <a:pPr lvl="0" algn="ctr">
                        <a:buNone/>
                      </a:pPr>
                      <a:r>
                        <a:rPr lang="en-US" sz="1600" b="1"/>
                        <a:t>6</a:t>
                      </a:r>
                    </a:p>
                  </a:txBody>
                  <a:tcPr anchor="ctr"/>
                </a:tc>
                <a:tc>
                  <a:txBody>
                    <a:bodyPr/>
                    <a:lstStyle/>
                    <a:p>
                      <a:pPr lvl="0" algn="ctr">
                        <a:buNone/>
                      </a:pPr>
                      <a:r>
                        <a:rPr lang="en-US" sz="1400" b="1" i="0" u="none" strike="noStrike" noProof="0">
                          <a:latin typeface="Calibri"/>
                        </a:rPr>
                        <a:t>Leveraging coverless image steganography to hide secret information by generating anime characters using GAN</a:t>
                      </a:r>
                      <a:endParaRPr lang="en-US" sz="1400" b="1"/>
                    </a:p>
                  </a:txBody>
                  <a:tcPr anchor="ctr"/>
                </a:tc>
                <a:tc>
                  <a:txBody>
                    <a:bodyPr/>
                    <a:lstStyle/>
                    <a:p>
                      <a:pPr lvl="0" algn="ctr">
                        <a:buNone/>
                      </a:pPr>
                      <a:r>
                        <a:rPr lang="en-US" sz="1400" b="1"/>
                        <a:t>2024 - </a:t>
                      </a:r>
                      <a:r>
                        <a:rPr lang="en-US" sz="1400" b="0" i="0" u="none" strike="noStrike" noProof="0">
                          <a:latin typeface="Calibri"/>
                        </a:rPr>
                        <a:t>Hafiz Abdul Rehman, Usama Ijaz Bajwa, Rana Hammad Raza, Sultan </a:t>
                      </a:r>
                      <a:r>
                        <a:rPr lang="en-US" sz="1400" b="0" i="0" u="none" strike="noStrike" noProof="0" err="1">
                          <a:latin typeface="Calibri"/>
                        </a:rPr>
                        <a:t>Alfarhood</a:t>
                      </a:r>
                      <a:r>
                        <a:rPr lang="en-US" sz="1400" b="0" i="0" u="none" strike="noStrike" noProof="0">
                          <a:latin typeface="Calibri"/>
                        </a:rPr>
                        <a:t>, </a:t>
                      </a:r>
                      <a:r>
                        <a:rPr lang="en-US" sz="1400" b="0" i="0" u="none" strike="noStrike" noProof="0" err="1">
                          <a:latin typeface="Calibri"/>
                        </a:rPr>
                        <a:t>Mejdl</a:t>
                      </a:r>
                      <a:r>
                        <a:rPr lang="en-US" sz="1400" b="0" i="0" u="none" strike="noStrike" noProof="0">
                          <a:latin typeface="Calibri"/>
                        </a:rPr>
                        <a:t> Safran, Fan Zhang</a:t>
                      </a:r>
                      <a:endParaRPr lang="en-US" sz="1400" b="1"/>
                    </a:p>
                  </a:txBody>
                  <a:tcPr anchor="ctr"/>
                </a:tc>
                <a:tc>
                  <a:txBody>
                    <a:bodyPr/>
                    <a:lstStyle/>
                    <a:p>
                      <a:pPr lvl="0" algn="just">
                        <a:buNone/>
                      </a:pPr>
                      <a:r>
                        <a:rPr lang="en-US" sz="1200" b="1" i="0" u="none" strike="noStrike" noProof="0">
                          <a:latin typeface="Calibri"/>
                        </a:rPr>
                        <a:t>Introduce a novel approach to coverless image steganography by utilizing GANs to hide secret information within anime characters. Their methodology involves character generation, utilizing LSTM and SRGAN models for text to face attribute labelling and high-resolution image generation.</a:t>
                      </a:r>
                      <a:endParaRPr lang="en-US" sz="1200" b="1"/>
                    </a:p>
                  </a:txBody>
                  <a:tcPr anchor="ctr"/>
                </a:tc>
                <a:extLst>
                  <a:ext uri="{0D108BD9-81ED-4DB2-BD59-A6C34878D82A}">
                    <a16:rowId xmlns:a16="http://schemas.microsoft.com/office/drawing/2014/main" val="1075948545"/>
                  </a:ext>
                </a:extLst>
              </a:tr>
            </a:tbl>
          </a:graphicData>
        </a:graphic>
      </p:graphicFrame>
      <p:sp>
        <p:nvSpPr>
          <p:cNvPr id="3" name="Title 2"/>
          <p:cNvSpPr>
            <a:spLocks noGrp="1"/>
          </p:cNvSpPr>
          <p:nvPr>
            <p:ph type="title"/>
          </p:nvPr>
        </p:nvSpPr>
        <p:spPr>
          <a:xfrm>
            <a:off x="341194" y="37422"/>
            <a:ext cx="11436823" cy="421441"/>
          </a:xfrm>
        </p:spPr>
        <p:txBody>
          <a:bodyPr/>
          <a:lstStyle/>
          <a:p>
            <a:r>
              <a:rPr lang="en-US" sz="3600" b="1">
                <a:latin typeface="Times New Roman"/>
                <a:cs typeface="Times New Roman"/>
              </a:rPr>
              <a:t>Literature Review </a:t>
            </a:r>
            <a:endParaRPr lang="en-IN" sz="3600" b="1">
              <a:latin typeface="Times New Roman"/>
              <a:cs typeface="Times New Roman"/>
            </a:endParaRPr>
          </a:p>
        </p:txBody>
      </p:sp>
      <p:sp>
        <p:nvSpPr>
          <p:cNvPr id="4" name="Footer Placeholder 3"/>
          <p:cNvSpPr>
            <a:spLocks noGrp="1"/>
          </p:cNvSpPr>
          <p:nvPr>
            <p:ph type="ftr" sz="quarter" idx="11"/>
          </p:nvPr>
        </p:nvSpPr>
        <p:spPr/>
        <p:txBody>
          <a:bodyPr/>
          <a:lstStyle/>
          <a:p>
            <a:r>
              <a:rPr lang="en-US">
                <a:solidFill>
                  <a:prstClr val="white"/>
                </a:solidFill>
              </a:rPr>
              <a:t>21AIE312</a:t>
            </a:r>
            <a:endParaRPr lang="en-US"/>
          </a:p>
        </p:txBody>
      </p:sp>
      <p:sp>
        <p:nvSpPr>
          <p:cNvPr id="5" name="Slide Number Placeholder 4"/>
          <p:cNvSpPr>
            <a:spLocks noGrp="1"/>
          </p:cNvSpPr>
          <p:nvPr>
            <p:ph type="sldNum" sz="quarter" idx="12"/>
          </p:nvPr>
        </p:nvSpPr>
        <p:spPr/>
        <p:txBody>
          <a:bodyPr/>
          <a:lstStyle/>
          <a:p>
            <a:fld id="{71766878-3199-4EAB-94E7-2D6D11070E14}" type="slidenum">
              <a:rPr lang="en-US" smtClean="0"/>
              <a:pPr/>
              <a:t>5</a:t>
            </a:fld>
            <a:endParaRPr lang="en-US"/>
          </a:p>
        </p:txBody>
      </p:sp>
    </p:spTree>
    <p:extLst>
      <p:ext uri="{BB962C8B-B14F-4D97-AF65-F5344CB8AC3E}">
        <p14:creationId xmlns:p14="http://schemas.microsoft.com/office/powerpoint/2010/main" val="9379434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E27A0BD-51AA-A7B2-F15F-0C8B7968F6FE}"/>
              </a:ext>
            </a:extLst>
          </p:cNvPr>
          <p:cNvSpPr>
            <a:spLocks noGrp="1"/>
          </p:cNvSpPr>
          <p:nvPr>
            <p:ph type="ftr" sz="quarter" idx="11"/>
          </p:nvPr>
        </p:nvSpPr>
        <p:spPr/>
        <p:txBody>
          <a:bodyPr/>
          <a:lstStyle/>
          <a:p>
            <a:r>
              <a:rPr lang="en-US">
                <a:solidFill>
                  <a:prstClr val="white"/>
                </a:solidFill>
              </a:rPr>
              <a:t>21AIE312</a:t>
            </a:r>
            <a:endParaRPr lang="en-US"/>
          </a:p>
        </p:txBody>
      </p:sp>
      <p:sp>
        <p:nvSpPr>
          <p:cNvPr id="2" name="Slide Number Placeholder 4">
            <a:extLst>
              <a:ext uri="{FF2B5EF4-FFF2-40B4-BE49-F238E27FC236}">
                <a16:creationId xmlns:a16="http://schemas.microsoft.com/office/drawing/2014/main" id="{24169922-8C39-3C77-C92B-4C436BF1A330}"/>
              </a:ext>
            </a:extLst>
          </p:cNvPr>
          <p:cNvSpPr txBox="1">
            <a:spLocks/>
          </p:cNvSpPr>
          <p:nvPr/>
        </p:nvSpPr>
        <p:spPr>
          <a:xfrm>
            <a:off x="423085" y="6475228"/>
            <a:ext cx="287522" cy="2906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bg1"/>
                </a:solidFill>
                <a:latin typeface="Times New Roman" panose="02020603050405020304" pitchFamily="18" charset="0"/>
                <a:ea typeface="+mn-ea"/>
                <a:cs typeface="Times New Roman" panose="02020603050405020304" pitchFamily="18"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1766878-3199-4EAB-94E7-2D6D11070E14}" type="slidenum">
              <a:rPr lang="en-US" smtClean="0"/>
              <a:pPr/>
              <a:t>6</a:t>
            </a:fld>
            <a:endParaRPr lang="en-US"/>
          </a:p>
        </p:txBody>
      </p:sp>
      <p:sp>
        <p:nvSpPr>
          <p:cNvPr id="5" name="Title 2">
            <a:extLst>
              <a:ext uri="{FF2B5EF4-FFF2-40B4-BE49-F238E27FC236}">
                <a16:creationId xmlns:a16="http://schemas.microsoft.com/office/drawing/2014/main" id="{95975D6F-91FD-F5BA-F748-D85077232137}"/>
              </a:ext>
            </a:extLst>
          </p:cNvPr>
          <p:cNvSpPr>
            <a:spLocks noGrp="1"/>
          </p:cNvSpPr>
          <p:nvPr>
            <p:ph type="title"/>
          </p:nvPr>
        </p:nvSpPr>
        <p:spPr>
          <a:xfrm>
            <a:off x="341194" y="348661"/>
            <a:ext cx="11436823" cy="421441"/>
          </a:xfrm>
        </p:spPr>
        <p:txBody>
          <a:bodyPr/>
          <a:lstStyle/>
          <a:p>
            <a:r>
              <a:rPr lang="en-US" sz="4800" b="1">
                <a:latin typeface="Times New Roman"/>
                <a:cs typeface="Times New Roman"/>
              </a:rPr>
              <a:t>Dataset Description</a:t>
            </a:r>
          </a:p>
        </p:txBody>
      </p:sp>
      <p:sp>
        <p:nvSpPr>
          <p:cNvPr id="9" name="Content Placeholder 1">
            <a:extLst>
              <a:ext uri="{FF2B5EF4-FFF2-40B4-BE49-F238E27FC236}">
                <a16:creationId xmlns:a16="http://schemas.microsoft.com/office/drawing/2014/main" id="{97FFB323-6922-50AA-C2D9-EE11CF185637}"/>
              </a:ext>
            </a:extLst>
          </p:cNvPr>
          <p:cNvSpPr>
            <a:spLocks noGrp="1"/>
          </p:cNvSpPr>
          <p:nvPr>
            <p:ph idx="1"/>
          </p:nvPr>
        </p:nvSpPr>
        <p:spPr>
          <a:xfrm>
            <a:off x="341195" y="1137256"/>
            <a:ext cx="11436822" cy="4908082"/>
          </a:xfrm>
        </p:spPr>
        <p:txBody>
          <a:bodyPr vert="horz" lIns="91440" tIns="45720" rIns="91440" bIns="45720" rtlCol="0" anchor="t">
            <a:normAutofit/>
          </a:bodyPr>
          <a:lstStyle/>
          <a:p>
            <a:pPr marL="0" indent="0" algn="just">
              <a:lnSpc>
                <a:spcPct val="100000"/>
              </a:lnSpc>
              <a:spcBef>
                <a:spcPts val="0"/>
              </a:spcBef>
              <a:buNone/>
            </a:pPr>
            <a:r>
              <a:rPr lang="en-US" sz="3200" u="sng">
                <a:latin typeface="Times New Roman"/>
                <a:cs typeface="Times New Roman"/>
              </a:rPr>
              <a:t>CIFAR-100</a:t>
            </a:r>
            <a:endParaRPr lang="en-US" sz="3200">
              <a:latin typeface="Times New Roman"/>
              <a:cs typeface="Times New Roman"/>
            </a:endParaRPr>
          </a:p>
          <a:p>
            <a:pPr algn="just">
              <a:lnSpc>
                <a:spcPct val="100000"/>
              </a:lnSpc>
              <a:spcBef>
                <a:spcPts val="0"/>
              </a:spcBef>
            </a:pPr>
            <a:endParaRPr lang="en-US" sz="3600">
              <a:latin typeface="Times New Roman"/>
              <a:cs typeface="Times New Roman"/>
            </a:endParaRPr>
          </a:p>
          <a:p>
            <a:pPr marL="457200" indent="-457200">
              <a:lnSpc>
                <a:spcPct val="100000"/>
              </a:lnSpc>
              <a:spcBef>
                <a:spcPts val="0"/>
              </a:spcBef>
              <a:buFont typeface="Arial,Sans-Serif" panose="020B0604020202020204" pitchFamily="34" charset="0"/>
            </a:pPr>
            <a:r>
              <a:rPr lang="en-US" sz="3200">
                <a:latin typeface="Times New Roman"/>
                <a:cs typeface="Times New Roman"/>
              </a:rPr>
              <a:t>60,000 images having 100 classes</a:t>
            </a:r>
          </a:p>
          <a:p>
            <a:pPr marL="457200" indent="-457200">
              <a:lnSpc>
                <a:spcPct val="100000"/>
              </a:lnSpc>
              <a:spcBef>
                <a:spcPts val="0"/>
              </a:spcBef>
              <a:buFont typeface="Arial,Sans-Serif" panose="020B0604020202020204" pitchFamily="34" charset="0"/>
            </a:pPr>
            <a:endParaRPr lang="en-US" sz="3200">
              <a:latin typeface="Times New Roman"/>
              <a:cs typeface="Times New Roman"/>
            </a:endParaRPr>
          </a:p>
          <a:p>
            <a:pPr marL="457200" indent="-457200">
              <a:lnSpc>
                <a:spcPct val="100000"/>
              </a:lnSpc>
              <a:spcBef>
                <a:spcPts val="0"/>
              </a:spcBef>
              <a:buFont typeface="Arial,Sans-Serif" panose="020B0604020202020204" pitchFamily="34" charset="0"/>
            </a:pPr>
            <a:r>
              <a:rPr lang="en-US" sz="3200">
                <a:latin typeface="Times New Roman"/>
                <a:cs typeface="Times New Roman"/>
              </a:rPr>
              <a:t>Each image is of the size 32 x 32</a:t>
            </a:r>
          </a:p>
          <a:p>
            <a:pPr>
              <a:lnSpc>
                <a:spcPct val="100000"/>
              </a:lnSpc>
              <a:spcBef>
                <a:spcPts val="0"/>
              </a:spcBef>
            </a:pPr>
            <a:endParaRPr lang="en-US" sz="3200">
              <a:latin typeface="Times New Roman"/>
              <a:cs typeface="Times New Roman"/>
            </a:endParaRPr>
          </a:p>
          <a:p>
            <a:pPr marL="457200" indent="-457200">
              <a:lnSpc>
                <a:spcPct val="100000"/>
              </a:lnSpc>
              <a:spcBef>
                <a:spcPts val="0"/>
              </a:spcBef>
              <a:buFont typeface="Arial,Sans-Serif" panose="020B0604020202020204" pitchFamily="34" charset="0"/>
            </a:pPr>
            <a:r>
              <a:rPr lang="en-US" sz="3200">
                <a:latin typeface="Times New Roman"/>
                <a:cs typeface="Times New Roman"/>
              </a:rPr>
              <a:t>Each Image has class as a label </a:t>
            </a:r>
          </a:p>
        </p:txBody>
      </p:sp>
      <p:sp>
        <p:nvSpPr>
          <p:cNvPr id="3" name="Slide Number Placeholder 2">
            <a:extLst>
              <a:ext uri="{FF2B5EF4-FFF2-40B4-BE49-F238E27FC236}">
                <a16:creationId xmlns:a16="http://schemas.microsoft.com/office/drawing/2014/main" id="{06A37FFF-6F29-F353-9BFD-C90C1191B1DF}"/>
              </a:ext>
            </a:extLst>
          </p:cNvPr>
          <p:cNvSpPr>
            <a:spLocks noGrp="1"/>
          </p:cNvSpPr>
          <p:nvPr>
            <p:ph type="sldNum" sz="quarter" idx="12"/>
          </p:nvPr>
        </p:nvSpPr>
        <p:spPr/>
        <p:txBody>
          <a:bodyPr/>
          <a:lstStyle/>
          <a:p>
            <a:fld id="{71766878-3199-4EAB-94E7-2D6D11070E14}" type="slidenum">
              <a:rPr lang="en-US" smtClean="0"/>
              <a:pPr/>
              <a:t>6</a:t>
            </a:fld>
            <a:endParaRPr lang="en-US"/>
          </a:p>
        </p:txBody>
      </p:sp>
    </p:spTree>
    <p:extLst>
      <p:ext uri="{BB962C8B-B14F-4D97-AF65-F5344CB8AC3E}">
        <p14:creationId xmlns:p14="http://schemas.microsoft.com/office/powerpoint/2010/main" val="20562542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E27A0BD-51AA-A7B2-F15F-0C8B7968F6FE}"/>
              </a:ext>
            </a:extLst>
          </p:cNvPr>
          <p:cNvSpPr>
            <a:spLocks noGrp="1"/>
          </p:cNvSpPr>
          <p:nvPr>
            <p:ph type="ftr" sz="quarter" idx="11"/>
          </p:nvPr>
        </p:nvSpPr>
        <p:spPr/>
        <p:txBody>
          <a:bodyPr/>
          <a:lstStyle/>
          <a:p>
            <a:r>
              <a:rPr lang="en-US">
                <a:solidFill>
                  <a:prstClr val="white"/>
                </a:solidFill>
              </a:rPr>
              <a:t>21AIE312</a:t>
            </a:r>
            <a:endParaRPr lang="en-US"/>
          </a:p>
        </p:txBody>
      </p:sp>
      <p:sp>
        <p:nvSpPr>
          <p:cNvPr id="2" name="Slide Number Placeholder 4">
            <a:extLst>
              <a:ext uri="{FF2B5EF4-FFF2-40B4-BE49-F238E27FC236}">
                <a16:creationId xmlns:a16="http://schemas.microsoft.com/office/drawing/2014/main" id="{24169922-8C39-3C77-C92B-4C436BF1A330}"/>
              </a:ext>
            </a:extLst>
          </p:cNvPr>
          <p:cNvSpPr txBox="1">
            <a:spLocks/>
          </p:cNvSpPr>
          <p:nvPr/>
        </p:nvSpPr>
        <p:spPr>
          <a:xfrm>
            <a:off x="423085" y="6475228"/>
            <a:ext cx="287522" cy="2906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bg1"/>
                </a:solidFill>
                <a:latin typeface="Times New Roman" panose="02020603050405020304" pitchFamily="18" charset="0"/>
                <a:ea typeface="+mn-ea"/>
                <a:cs typeface="Times New Roman" panose="02020603050405020304" pitchFamily="18"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1766878-3199-4EAB-94E7-2D6D11070E14}" type="slidenum">
              <a:rPr lang="en-US" smtClean="0"/>
              <a:pPr/>
              <a:t>7</a:t>
            </a:fld>
            <a:endParaRPr lang="en-US"/>
          </a:p>
        </p:txBody>
      </p:sp>
      <p:sp>
        <p:nvSpPr>
          <p:cNvPr id="5" name="Title 2">
            <a:extLst>
              <a:ext uri="{FF2B5EF4-FFF2-40B4-BE49-F238E27FC236}">
                <a16:creationId xmlns:a16="http://schemas.microsoft.com/office/drawing/2014/main" id="{95975D6F-91FD-F5BA-F748-D85077232137}"/>
              </a:ext>
            </a:extLst>
          </p:cNvPr>
          <p:cNvSpPr>
            <a:spLocks noGrp="1"/>
          </p:cNvSpPr>
          <p:nvPr>
            <p:ph type="title"/>
          </p:nvPr>
        </p:nvSpPr>
        <p:spPr>
          <a:xfrm>
            <a:off x="341194" y="348661"/>
            <a:ext cx="11436823" cy="421441"/>
          </a:xfrm>
        </p:spPr>
        <p:txBody>
          <a:bodyPr/>
          <a:lstStyle/>
          <a:p>
            <a:r>
              <a:rPr lang="en-US" sz="4800" b="1">
                <a:latin typeface="Times New Roman"/>
                <a:cs typeface="Times New Roman"/>
              </a:rPr>
              <a:t>Dataset Description</a:t>
            </a:r>
          </a:p>
        </p:txBody>
      </p:sp>
      <p:sp>
        <p:nvSpPr>
          <p:cNvPr id="9" name="Content Placeholder 1">
            <a:extLst>
              <a:ext uri="{FF2B5EF4-FFF2-40B4-BE49-F238E27FC236}">
                <a16:creationId xmlns:a16="http://schemas.microsoft.com/office/drawing/2014/main" id="{97FFB323-6922-50AA-C2D9-EE11CF185637}"/>
              </a:ext>
            </a:extLst>
          </p:cNvPr>
          <p:cNvSpPr>
            <a:spLocks noGrp="1"/>
          </p:cNvSpPr>
          <p:nvPr>
            <p:ph idx="1"/>
          </p:nvPr>
        </p:nvSpPr>
        <p:spPr>
          <a:xfrm>
            <a:off x="341195" y="1137256"/>
            <a:ext cx="11436822" cy="4908082"/>
          </a:xfrm>
        </p:spPr>
        <p:txBody>
          <a:bodyPr vert="horz" lIns="91440" tIns="45720" rIns="91440" bIns="45720" rtlCol="0" anchor="t">
            <a:noAutofit/>
          </a:bodyPr>
          <a:lstStyle/>
          <a:p>
            <a:pPr marL="0" indent="0" algn="just">
              <a:lnSpc>
                <a:spcPct val="100000"/>
              </a:lnSpc>
              <a:spcBef>
                <a:spcPts val="0"/>
              </a:spcBef>
              <a:buNone/>
            </a:pPr>
            <a:r>
              <a:rPr lang="en-US" sz="3200" u="sng">
                <a:latin typeface="Times New Roman"/>
                <a:cs typeface="Times New Roman"/>
              </a:rPr>
              <a:t>Image Super Resolution</a:t>
            </a:r>
            <a:endParaRPr lang="en-US" sz="3200">
              <a:latin typeface="Times New Roman"/>
              <a:cs typeface="Times New Roman"/>
            </a:endParaRPr>
          </a:p>
          <a:p>
            <a:pPr marL="0" indent="0" algn="just">
              <a:lnSpc>
                <a:spcPct val="100000"/>
              </a:lnSpc>
              <a:spcBef>
                <a:spcPts val="0"/>
              </a:spcBef>
              <a:buNone/>
            </a:pPr>
            <a:endParaRPr lang="en-US" sz="3200" u="sng">
              <a:latin typeface="Times New Roman"/>
              <a:cs typeface="Times New Roman"/>
            </a:endParaRPr>
          </a:p>
          <a:p>
            <a:pPr marL="457200" indent="-457200">
              <a:lnSpc>
                <a:spcPct val="100000"/>
              </a:lnSpc>
            </a:pPr>
            <a:r>
              <a:rPr lang="en-US" sz="3000">
                <a:latin typeface="Times New Roman"/>
                <a:cs typeface="Times New Roman"/>
              </a:rPr>
              <a:t>Divided into 2 main folders: train and val.</a:t>
            </a:r>
            <a:endParaRPr lang="en-IN" sz="3000">
              <a:latin typeface="Times New Roman"/>
              <a:cs typeface="Times New Roman"/>
            </a:endParaRPr>
          </a:p>
          <a:p>
            <a:pPr marL="457200" indent="-457200">
              <a:lnSpc>
                <a:spcPct val="100000"/>
              </a:lnSpc>
            </a:pPr>
            <a:r>
              <a:rPr lang="en-IN" sz="3000">
                <a:latin typeface="Times New Roman"/>
                <a:cs typeface="Times New Roman"/>
              </a:rPr>
              <a:t>Subdirectories called </a:t>
            </a:r>
            <a:r>
              <a:rPr lang="en-IN" sz="3000" err="1">
                <a:latin typeface="Times New Roman"/>
                <a:cs typeface="Times New Roman"/>
              </a:rPr>
              <a:t>high_res</a:t>
            </a:r>
            <a:r>
              <a:rPr lang="en-IN" sz="3000">
                <a:latin typeface="Times New Roman"/>
                <a:cs typeface="Times New Roman"/>
              </a:rPr>
              <a:t> &amp; </a:t>
            </a:r>
            <a:r>
              <a:rPr lang="en-IN" sz="3000" err="1">
                <a:latin typeface="Times New Roman"/>
                <a:cs typeface="Times New Roman"/>
              </a:rPr>
              <a:t>low_res</a:t>
            </a:r>
            <a:r>
              <a:rPr lang="en-IN" sz="3000">
                <a:latin typeface="Times New Roman"/>
                <a:cs typeface="Times New Roman"/>
              </a:rPr>
              <a:t> in both train and </a:t>
            </a:r>
            <a:r>
              <a:rPr lang="en-IN" sz="3000" err="1">
                <a:latin typeface="Times New Roman"/>
                <a:cs typeface="Times New Roman"/>
              </a:rPr>
              <a:t>val</a:t>
            </a:r>
            <a:endParaRPr lang="en-IN" sz="3000">
              <a:latin typeface="Times New Roman"/>
              <a:cs typeface="Times New Roman"/>
            </a:endParaRPr>
          </a:p>
          <a:p>
            <a:pPr marL="457200" indent="-457200">
              <a:lnSpc>
                <a:spcPct val="100000"/>
              </a:lnSpc>
            </a:pPr>
            <a:r>
              <a:rPr lang="en-US" sz="3000">
                <a:latin typeface="Times New Roman"/>
                <a:cs typeface="Times New Roman"/>
              </a:rPr>
              <a:t>1370 images, 685 images each for high resolution and low resolution in train folder.</a:t>
            </a:r>
          </a:p>
          <a:p>
            <a:pPr marL="457200" indent="-457200">
              <a:lnSpc>
                <a:spcPct val="100000"/>
              </a:lnSpc>
            </a:pPr>
            <a:r>
              <a:rPr lang="en-US" sz="3000">
                <a:latin typeface="Times New Roman"/>
                <a:cs typeface="Times New Roman"/>
              </a:rPr>
              <a:t>340 images, 170 images each for high resolution and low resolution in </a:t>
            </a:r>
            <a:r>
              <a:rPr lang="en-US" sz="3000" err="1">
                <a:latin typeface="Times New Roman"/>
                <a:cs typeface="Times New Roman"/>
              </a:rPr>
              <a:t>val</a:t>
            </a:r>
            <a:r>
              <a:rPr lang="en-US" sz="3000">
                <a:latin typeface="Times New Roman"/>
                <a:cs typeface="Times New Roman"/>
              </a:rPr>
              <a:t> folder </a:t>
            </a:r>
          </a:p>
          <a:p>
            <a:pPr marL="457200" indent="-457200">
              <a:lnSpc>
                <a:spcPct val="100000"/>
              </a:lnSpc>
            </a:pPr>
            <a:r>
              <a:rPr lang="en-US" sz="3000">
                <a:latin typeface="Times New Roman"/>
                <a:cs typeface="Times New Roman"/>
              </a:rPr>
              <a:t>Image size 256x256 for high and low resolution </a:t>
            </a:r>
            <a:r>
              <a:rPr lang="en-US" sz="3200">
                <a:latin typeface="Times New Roman"/>
                <a:cs typeface="Times New Roman"/>
              </a:rPr>
              <a:t>  </a:t>
            </a:r>
            <a:endParaRPr lang="en-US">
              <a:cs typeface="Times New Roman"/>
            </a:endParaRPr>
          </a:p>
        </p:txBody>
      </p:sp>
      <p:sp>
        <p:nvSpPr>
          <p:cNvPr id="3" name="Slide Number Placeholder 2">
            <a:extLst>
              <a:ext uri="{FF2B5EF4-FFF2-40B4-BE49-F238E27FC236}">
                <a16:creationId xmlns:a16="http://schemas.microsoft.com/office/drawing/2014/main" id="{B7BBF373-3A18-0E4D-55CF-A203E6A15FD9}"/>
              </a:ext>
            </a:extLst>
          </p:cNvPr>
          <p:cNvSpPr>
            <a:spLocks noGrp="1"/>
          </p:cNvSpPr>
          <p:nvPr>
            <p:ph type="sldNum" sz="quarter" idx="12"/>
          </p:nvPr>
        </p:nvSpPr>
        <p:spPr/>
        <p:txBody>
          <a:bodyPr/>
          <a:lstStyle/>
          <a:p>
            <a:fld id="{71766878-3199-4EAB-94E7-2D6D11070E14}" type="slidenum">
              <a:rPr lang="en-US" smtClean="0"/>
              <a:pPr/>
              <a:t>7</a:t>
            </a:fld>
            <a:endParaRPr lang="en-US"/>
          </a:p>
        </p:txBody>
      </p:sp>
    </p:spTree>
    <p:extLst>
      <p:ext uri="{BB962C8B-B14F-4D97-AF65-F5344CB8AC3E}">
        <p14:creationId xmlns:p14="http://schemas.microsoft.com/office/powerpoint/2010/main" val="11232187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4800" b="1">
                <a:latin typeface="Times New Roman"/>
                <a:cs typeface="Times New Roman"/>
              </a:rPr>
              <a:t>Methodology</a:t>
            </a:r>
            <a:endParaRPr lang="en-IN" sz="4800">
              <a:latin typeface="Times New Roman"/>
              <a:cs typeface="Times New Roman"/>
            </a:endParaRPr>
          </a:p>
        </p:txBody>
      </p:sp>
      <p:sp>
        <p:nvSpPr>
          <p:cNvPr id="4" name="Footer Placeholder 3"/>
          <p:cNvSpPr>
            <a:spLocks noGrp="1"/>
          </p:cNvSpPr>
          <p:nvPr>
            <p:ph type="ftr" sz="quarter" idx="11"/>
          </p:nvPr>
        </p:nvSpPr>
        <p:spPr/>
        <p:txBody>
          <a:bodyPr/>
          <a:lstStyle/>
          <a:p>
            <a:r>
              <a:rPr lang="en-US">
                <a:solidFill>
                  <a:prstClr val="white"/>
                </a:solidFill>
              </a:rPr>
              <a:t>21AIE312</a:t>
            </a:r>
            <a:endParaRPr lang="en-US"/>
          </a:p>
        </p:txBody>
      </p:sp>
      <p:sp>
        <p:nvSpPr>
          <p:cNvPr id="5" name="Slide Number Placeholder 4"/>
          <p:cNvSpPr>
            <a:spLocks noGrp="1"/>
          </p:cNvSpPr>
          <p:nvPr>
            <p:ph type="sldNum" sz="quarter" idx="12"/>
          </p:nvPr>
        </p:nvSpPr>
        <p:spPr/>
        <p:txBody>
          <a:bodyPr/>
          <a:lstStyle/>
          <a:p>
            <a:fld id="{71766878-3199-4EAB-94E7-2D6D11070E14}" type="slidenum">
              <a:rPr lang="en-US" smtClean="0"/>
              <a:pPr/>
              <a:t>8</a:t>
            </a:fld>
            <a:endParaRPr lang="en-US"/>
          </a:p>
        </p:txBody>
      </p:sp>
      <p:sp>
        <p:nvSpPr>
          <p:cNvPr id="2" name="Content Placeholder 1"/>
          <p:cNvSpPr>
            <a:spLocks noGrp="1"/>
          </p:cNvSpPr>
          <p:nvPr>
            <p:ph idx="1"/>
          </p:nvPr>
        </p:nvSpPr>
        <p:spPr/>
        <p:txBody>
          <a:bodyPr vert="horz" lIns="91440" tIns="45720" rIns="91440" bIns="45720" rtlCol="0" anchor="t">
            <a:normAutofit/>
          </a:bodyPr>
          <a:lstStyle/>
          <a:p>
            <a:pPr marL="0" indent="0">
              <a:buNone/>
            </a:pPr>
            <a:r>
              <a:rPr lang="en-US"/>
              <a:t>4 major steps:</a:t>
            </a:r>
          </a:p>
          <a:p>
            <a:endParaRPr lang="en-US">
              <a:latin typeface="Georgia"/>
            </a:endParaRPr>
          </a:p>
          <a:p>
            <a:r>
              <a:rPr lang="en-US">
                <a:latin typeface="Georgia"/>
              </a:rPr>
              <a:t>Extracting Semantic Features</a:t>
            </a:r>
          </a:p>
          <a:p>
            <a:endParaRPr lang="en-US"/>
          </a:p>
          <a:p>
            <a:r>
              <a:rPr lang="en-US">
                <a:latin typeface="Georgia"/>
              </a:rPr>
              <a:t>Steganography</a:t>
            </a:r>
          </a:p>
          <a:p>
            <a:endParaRPr lang="en-US"/>
          </a:p>
          <a:p>
            <a:r>
              <a:rPr lang="en-US">
                <a:latin typeface="Georgia"/>
              </a:rPr>
              <a:t>Reconstructing the image</a:t>
            </a:r>
          </a:p>
          <a:p>
            <a:endParaRPr lang="en-US"/>
          </a:p>
          <a:p>
            <a:r>
              <a:rPr lang="en-US">
                <a:latin typeface="Georgia"/>
              </a:rPr>
              <a:t>Computing the evaluation metrics</a:t>
            </a:r>
            <a:endParaRPr lang="en-IN">
              <a:latin typeface="Georgia"/>
            </a:endParaRPr>
          </a:p>
        </p:txBody>
      </p:sp>
    </p:spTree>
    <p:extLst>
      <p:ext uri="{BB962C8B-B14F-4D97-AF65-F5344CB8AC3E}">
        <p14:creationId xmlns:p14="http://schemas.microsoft.com/office/powerpoint/2010/main" val="31444430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solidFill>
                  <a:prstClr val="white"/>
                </a:solidFill>
              </a:rPr>
              <a:t>21AIE312</a:t>
            </a:r>
            <a:endParaRPr lang="en-US"/>
          </a:p>
        </p:txBody>
      </p:sp>
      <p:sp>
        <p:nvSpPr>
          <p:cNvPr id="5" name="Slide Number Placeholder 4"/>
          <p:cNvSpPr>
            <a:spLocks noGrp="1"/>
          </p:cNvSpPr>
          <p:nvPr>
            <p:ph type="sldNum" sz="quarter" idx="12"/>
          </p:nvPr>
        </p:nvSpPr>
        <p:spPr/>
        <p:txBody>
          <a:bodyPr/>
          <a:lstStyle/>
          <a:p>
            <a:fld id="{71766878-3199-4EAB-94E7-2D6D11070E14}" type="slidenum">
              <a:rPr lang="en-US" smtClean="0"/>
              <a:pPr/>
              <a:t>9</a:t>
            </a:fld>
            <a:endParaRPr lang="en-US"/>
          </a:p>
        </p:txBody>
      </p:sp>
      <p:sp>
        <p:nvSpPr>
          <p:cNvPr id="12" name="Title 2">
            <a:extLst>
              <a:ext uri="{FF2B5EF4-FFF2-40B4-BE49-F238E27FC236}">
                <a16:creationId xmlns:a16="http://schemas.microsoft.com/office/drawing/2014/main" id="{901F30BC-58DD-C460-DBC8-2D4AB8B6BDA8}"/>
              </a:ext>
            </a:extLst>
          </p:cNvPr>
          <p:cNvSpPr txBox="1">
            <a:spLocks/>
          </p:cNvSpPr>
          <p:nvPr/>
        </p:nvSpPr>
        <p:spPr>
          <a:xfrm>
            <a:off x="493594" y="501061"/>
            <a:ext cx="11436823" cy="42144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200" b="0" kern="1200">
                <a:solidFill>
                  <a:srgbClr val="A4123F"/>
                </a:solidFill>
                <a:latin typeface="Georgia" panose="02040502050405020303" pitchFamily="18" charset="0"/>
                <a:ea typeface="+mj-ea"/>
                <a:cs typeface="+mj-cs"/>
              </a:defRPr>
            </a:lvl1pPr>
          </a:lstStyle>
          <a:p>
            <a:r>
              <a:rPr lang="en-US">
                <a:latin typeface="Georgia"/>
              </a:rPr>
              <a:t>Sender side</a:t>
            </a:r>
            <a:endParaRPr lang="en-IN">
              <a:latin typeface="Georgia"/>
            </a:endParaRPr>
          </a:p>
        </p:txBody>
      </p:sp>
      <p:pic>
        <p:nvPicPr>
          <p:cNvPr id="6" name="Content Placeholder 5" descr="A diagram of a diagram of a compass&#10;&#10;Description automatically generated">
            <a:extLst>
              <a:ext uri="{FF2B5EF4-FFF2-40B4-BE49-F238E27FC236}">
                <a16:creationId xmlns:a16="http://schemas.microsoft.com/office/drawing/2014/main" id="{63FA96BB-A0AC-42F4-665F-9D94A0726506}"/>
              </a:ext>
            </a:extLst>
          </p:cNvPr>
          <p:cNvPicPr>
            <a:picLocks noGrp="1" noChangeAspect="1"/>
          </p:cNvPicPr>
          <p:nvPr>
            <p:ph idx="1"/>
          </p:nvPr>
        </p:nvPicPr>
        <p:blipFill>
          <a:blip r:embed="rId2"/>
          <a:stretch>
            <a:fillRect/>
          </a:stretch>
        </p:blipFill>
        <p:spPr>
          <a:xfrm>
            <a:off x="341194" y="1326302"/>
            <a:ext cx="11436823" cy="4529989"/>
          </a:xfrm>
        </p:spPr>
      </p:pic>
    </p:spTree>
    <p:extLst>
      <p:ext uri="{BB962C8B-B14F-4D97-AF65-F5344CB8AC3E}">
        <p14:creationId xmlns:p14="http://schemas.microsoft.com/office/powerpoint/2010/main" val="1506508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Receiver side</a:t>
            </a:r>
            <a:endParaRPr lang="en-IN"/>
          </a:p>
        </p:txBody>
      </p:sp>
      <p:sp>
        <p:nvSpPr>
          <p:cNvPr id="4" name="Footer Placeholder 3"/>
          <p:cNvSpPr>
            <a:spLocks noGrp="1"/>
          </p:cNvSpPr>
          <p:nvPr>
            <p:ph type="ftr" sz="quarter" idx="11"/>
          </p:nvPr>
        </p:nvSpPr>
        <p:spPr/>
        <p:txBody>
          <a:bodyPr/>
          <a:lstStyle/>
          <a:p>
            <a:r>
              <a:rPr lang="en-US">
                <a:solidFill>
                  <a:prstClr val="white"/>
                </a:solidFill>
              </a:rPr>
              <a:t>21AIE312</a:t>
            </a:r>
            <a:endParaRPr lang="en-US"/>
          </a:p>
        </p:txBody>
      </p:sp>
      <p:sp>
        <p:nvSpPr>
          <p:cNvPr id="5" name="Slide Number Placeholder 4"/>
          <p:cNvSpPr>
            <a:spLocks noGrp="1"/>
          </p:cNvSpPr>
          <p:nvPr>
            <p:ph type="sldNum" sz="quarter" idx="12"/>
          </p:nvPr>
        </p:nvSpPr>
        <p:spPr/>
        <p:txBody>
          <a:bodyPr/>
          <a:lstStyle/>
          <a:p>
            <a:fld id="{71766878-3199-4EAB-94E7-2D6D11070E14}" type="slidenum">
              <a:rPr lang="en-US" smtClean="0"/>
              <a:pPr/>
              <a:t>10</a:t>
            </a:fld>
            <a:endParaRPr lang="en-US"/>
          </a:p>
        </p:txBody>
      </p:sp>
      <p:pic>
        <p:nvPicPr>
          <p:cNvPr id="7" name="Content Placeholder 6">
            <a:extLst>
              <a:ext uri="{FF2B5EF4-FFF2-40B4-BE49-F238E27FC236}">
                <a16:creationId xmlns:a16="http://schemas.microsoft.com/office/drawing/2014/main" id="{D1E6241D-7D7A-0D7D-343A-61BB754A70E7}"/>
              </a:ext>
            </a:extLst>
          </p:cNvPr>
          <p:cNvPicPr>
            <a:picLocks noGrp="1" noChangeAspect="1"/>
          </p:cNvPicPr>
          <p:nvPr>
            <p:ph idx="1"/>
          </p:nvPr>
        </p:nvPicPr>
        <p:blipFill>
          <a:blip r:embed="rId2"/>
          <a:stretch>
            <a:fillRect/>
          </a:stretch>
        </p:blipFill>
        <p:spPr>
          <a:xfrm>
            <a:off x="380833" y="1137256"/>
            <a:ext cx="11357545" cy="4908082"/>
          </a:xfrm>
        </p:spPr>
      </p:pic>
    </p:spTree>
    <p:extLst>
      <p:ext uri="{BB962C8B-B14F-4D97-AF65-F5344CB8AC3E}">
        <p14:creationId xmlns:p14="http://schemas.microsoft.com/office/powerpoint/2010/main" val="12612161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a:t>Encoder architecture has been implemented.</a:t>
            </a:r>
          </a:p>
          <a:p>
            <a:endParaRPr lang="en-US"/>
          </a:p>
          <a:p>
            <a:r>
              <a:rPr lang="en-US"/>
              <a:t>3 Deep learning models have been used</a:t>
            </a:r>
          </a:p>
          <a:p>
            <a:endParaRPr lang="en-US"/>
          </a:p>
          <a:p>
            <a:r>
              <a:rPr lang="en-US"/>
              <a:t>Convolutional </a:t>
            </a:r>
            <a:r>
              <a:rPr lang="en-US" err="1"/>
              <a:t>Autoencoder</a:t>
            </a:r>
            <a:r>
              <a:rPr lang="en-US"/>
              <a:t> (CAE)</a:t>
            </a:r>
          </a:p>
          <a:p>
            <a:endParaRPr lang="en-US"/>
          </a:p>
          <a:p>
            <a:r>
              <a:rPr lang="en-US"/>
              <a:t>VGG-16 </a:t>
            </a:r>
          </a:p>
          <a:p>
            <a:endParaRPr lang="en-US"/>
          </a:p>
          <a:p>
            <a:r>
              <a:rPr lang="en-US"/>
              <a:t>ResNet-50 </a:t>
            </a:r>
          </a:p>
          <a:p>
            <a:endParaRPr lang="en-US"/>
          </a:p>
          <a:p>
            <a:pPr marL="0" indent="0">
              <a:buNone/>
            </a:pPr>
            <a:endParaRPr lang="en-IN"/>
          </a:p>
        </p:txBody>
      </p:sp>
      <p:sp>
        <p:nvSpPr>
          <p:cNvPr id="3" name="Title 2"/>
          <p:cNvSpPr>
            <a:spLocks noGrp="1"/>
          </p:cNvSpPr>
          <p:nvPr>
            <p:ph type="title"/>
          </p:nvPr>
        </p:nvSpPr>
        <p:spPr/>
        <p:txBody>
          <a:bodyPr/>
          <a:lstStyle/>
          <a:p>
            <a:r>
              <a:rPr lang="en-US"/>
              <a:t>Extracting Semantic Features</a:t>
            </a:r>
            <a:endParaRPr lang="en-IN"/>
          </a:p>
        </p:txBody>
      </p:sp>
      <p:sp>
        <p:nvSpPr>
          <p:cNvPr id="4" name="Footer Placeholder 3"/>
          <p:cNvSpPr>
            <a:spLocks noGrp="1"/>
          </p:cNvSpPr>
          <p:nvPr>
            <p:ph type="ftr" sz="quarter" idx="11"/>
          </p:nvPr>
        </p:nvSpPr>
        <p:spPr/>
        <p:txBody>
          <a:bodyPr/>
          <a:lstStyle/>
          <a:p>
            <a:r>
              <a:rPr lang="en-US">
                <a:solidFill>
                  <a:prstClr val="white"/>
                </a:solidFill>
              </a:rPr>
              <a:t>21AIE312</a:t>
            </a:r>
            <a:endParaRPr lang="en-US"/>
          </a:p>
        </p:txBody>
      </p:sp>
      <p:sp>
        <p:nvSpPr>
          <p:cNvPr id="5" name="Slide Number Placeholder 4"/>
          <p:cNvSpPr>
            <a:spLocks noGrp="1"/>
          </p:cNvSpPr>
          <p:nvPr>
            <p:ph type="sldNum" sz="quarter" idx="12"/>
          </p:nvPr>
        </p:nvSpPr>
        <p:spPr/>
        <p:txBody>
          <a:bodyPr/>
          <a:lstStyle/>
          <a:p>
            <a:fld id="{71766878-3199-4EAB-94E7-2D6D11070E14}" type="slidenum">
              <a:rPr lang="en-US" smtClean="0"/>
              <a:pPr/>
              <a:t>11</a:t>
            </a:fld>
            <a:endParaRPr lang="en-US"/>
          </a:p>
        </p:txBody>
      </p:sp>
    </p:spTree>
    <p:extLst>
      <p:ext uri="{BB962C8B-B14F-4D97-AF65-F5344CB8AC3E}">
        <p14:creationId xmlns:p14="http://schemas.microsoft.com/office/powerpoint/2010/main" val="33659217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BF7B30C-91C8-2396-A2EA-3111DD06DFA1}"/>
              </a:ext>
            </a:extLst>
          </p:cNvPr>
          <p:cNvSpPr>
            <a:spLocks noGrp="1"/>
          </p:cNvSpPr>
          <p:nvPr>
            <p:ph type="title"/>
          </p:nvPr>
        </p:nvSpPr>
        <p:spPr/>
        <p:txBody>
          <a:bodyPr/>
          <a:lstStyle/>
          <a:p>
            <a:r>
              <a:rPr lang="en-US">
                <a:latin typeface="Georgia"/>
              </a:rPr>
              <a:t>Model Building </a:t>
            </a:r>
            <a:endParaRPr lang="en-US"/>
          </a:p>
        </p:txBody>
      </p:sp>
      <p:sp>
        <p:nvSpPr>
          <p:cNvPr id="4" name="Footer Placeholder 3">
            <a:extLst>
              <a:ext uri="{FF2B5EF4-FFF2-40B4-BE49-F238E27FC236}">
                <a16:creationId xmlns:a16="http://schemas.microsoft.com/office/drawing/2014/main" id="{05952F1C-48B6-22F6-351D-8FBD4DB7363D}"/>
              </a:ext>
            </a:extLst>
          </p:cNvPr>
          <p:cNvSpPr>
            <a:spLocks noGrp="1"/>
          </p:cNvSpPr>
          <p:nvPr>
            <p:ph type="ftr" sz="quarter" idx="11"/>
          </p:nvPr>
        </p:nvSpPr>
        <p:spPr/>
        <p:txBody>
          <a:bodyPr/>
          <a:lstStyle/>
          <a:p>
            <a:r>
              <a:rPr lang="en-US"/>
              <a:t>21AIE312</a:t>
            </a:r>
          </a:p>
        </p:txBody>
      </p:sp>
      <p:sp>
        <p:nvSpPr>
          <p:cNvPr id="5" name="Slide Number Placeholder 4">
            <a:extLst>
              <a:ext uri="{FF2B5EF4-FFF2-40B4-BE49-F238E27FC236}">
                <a16:creationId xmlns:a16="http://schemas.microsoft.com/office/drawing/2014/main" id="{F1BD1F99-3B2C-3C15-02C5-EBD4AE147585}"/>
              </a:ext>
            </a:extLst>
          </p:cNvPr>
          <p:cNvSpPr>
            <a:spLocks noGrp="1"/>
          </p:cNvSpPr>
          <p:nvPr>
            <p:ph type="sldNum" sz="quarter" idx="12"/>
          </p:nvPr>
        </p:nvSpPr>
        <p:spPr/>
        <p:txBody>
          <a:bodyPr/>
          <a:lstStyle/>
          <a:p>
            <a:fld id="{71766878-3199-4EAB-94E7-2D6D11070E14}" type="slidenum">
              <a:rPr lang="en-US" smtClean="0"/>
              <a:pPr/>
              <a:t>12</a:t>
            </a:fld>
            <a:endParaRPr lang="en-US"/>
          </a:p>
        </p:txBody>
      </p:sp>
      <p:sp>
        <p:nvSpPr>
          <p:cNvPr id="7" name="TextBox 6">
            <a:extLst>
              <a:ext uri="{FF2B5EF4-FFF2-40B4-BE49-F238E27FC236}">
                <a16:creationId xmlns:a16="http://schemas.microsoft.com/office/drawing/2014/main" id="{5164B2DD-57B2-33DD-F141-0A598475C1BC}"/>
              </a:ext>
            </a:extLst>
          </p:cNvPr>
          <p:cNvSpPr txBox="1"/>
          <p:nvPr/>
        </p:nvSpPr>
        <p:spPr>
          <a:xfrm>
            <a:off x="342631" y="1251396"/>
            <a:ext cx="2075643"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Times New Roman"/>
                <a:cs typeface="Times New Roman"/>
              </a:rPr>
              <a:t>CAE MODEL</a:t>
            </a:r>
          </a:p>
        </p:txBody>
      </p:sp>
      <p:pic>
        <p:nvPicPr>
          <p:cNvPr id="9" name="Content Placeholder 8">
            <a:extLst>
              <a:ext uri="{FF2B5EF4-FFF2-40B4-BE49-F238E27FC236}">
                <a16:creationId xmlns:a16="http://schemas.microsoft.com/office/drawing/2014/main" id="{3587A4F8-2427-C851-2CFA-F00611115C01}"/>
              </a:ext>
            </a:extLst>
          </p:cNvPr>
          <p:cNvPicPr>
            <a:picLocks noGrp="1" noChangeAspect="1"/>
          </p:cNvPicPr>
          <p:nvPr>
            <p:ph idx="1"/>
          </p:nvPr>
        </p:nvPicPr>
        <p:blipFill>
          <a:blip r:embed="rId2"/>
          <a:stretch>
            <a:fillRect/>
          </a:stretch>
        </p:blipFill>
        <p:spPr>
          <a:xfrm>
            <a:off x="3077614" y="1137256"/>
            <a:ext cx="5963983" cy="4908082"/>
          </a:xfrm>
        </p:spPr>
      </p:pic>
    </p:spTree>
    <p:extLst>
      <p:ext uri="{BB962C8B-B14F-4D97-AF65-F5344CB8AC3E}">
        <p14:creationId xmlns:p14="http://schemas.microsoft.com/office/powerpoint/2010/main" val="42847206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BF7B30C-91C8-2396-A2EA-3111DD06DFA1}"/>
              </a:ext>
            </a:extLst>
          </p:cNvPr>
          <p:cNvSpPr>
            <a:spLocks noGrp="1"/>
          </p:cNvSpPr>
          <p:nvPr>
            <p:ph type="title"/>
          </p:nvPr>
        </p:nvSpPr>
        <p:spPr/>
        <p:txBody>
          <a:bodyPr/>
          <a:lstStyle/>
          <a:p>
            <a:r>
              <a:rPr lang="en-US"/>
              <a:t>Model Building </a:t>
            </a:r>
            <a:endParaRPr lang="en-US">
              <a:solidFill>
                <a:srgbClr val="000000"/>
              </a:solidFill>
            </a:endParaRPr>
          </a:p>
        </p:txBody>
      </p:sp>
      <p:sp>
        <p:nvSpPr>
          <p:cNvPr id="4" name="Footer Placeholder 3">
            <a:extLst>
              <a:ext uri="{FF2B5EF4-FFF2-40B4-BE49-F238E27FC236}">
                <a16:creationId xmlns:a16="http://schemas.microsoft.com/office/drawing/2014/main" id="{05952F1C-48B6-22F6-351D-8FBD4DB7363D}"/>
              </a:ext>
            </a:extLst>
          </p:cNvPr>
          <p:cNvSpPr>
            <a:spLocks noGrp="1"/>
          </p:cNvSpPr>
          <p:nvPr>
            <p:ph type="ftr" sz="quarter" idx="11"/>
          </p:nvPr>
        </p:nvSpPr>
        <p:spPr/>
        <p:txBody>
          <a:bodyPr/>
          <a:lstStyle/>
          <a:p>
            <a:r>
              <a:rPr lang="en-US"/>
              <a:t>21AIE312</a:t>
            </a:r>
          </a:p>
        </p:txBody>
      </p:sp>
      <p:sp>
        <p:nvSpPr>
          <p:cNvPr id="5" name="Slide Number Placeholder 4">
            <a:extLst>
              <a:ext uri="{FF2B5EF4-FFF2-40B4-BE49-F238E27FC236}">
                <a16:creationId xmlns:a16="http://schemas.microsoft.com/office/drawing/2014/main" id="{F1BD1F99-3B2C-3C15-02C5-EBD4AE147585}"/>
              </a:ext>
            </a:extLst>
          </p:cNvPr>
          <p:cNvSpPr>
            <a:spLocks noGrp="1"/>
          </p:cNvSpPr>
          <p:nvPr>
            <p:ph type="sldNum" sz="quarter" idx="12"/>
          </p:nvPr>
        </p:nvSpPr>
        <p:spPr/>
        <p:txBody>
          <a:bodyPr/>
          <a:lstStyle/>
          <a:p>
            <a:fld id="{71766878-3199-4EAB-94E7-2D6D11070E14}" type="slidenum">
              <a:rPr lang="en-US" smtClean="0"/>
              <a:pPr/>
              <a:t>13</a:t>
            </a:fld>
            <a:endParaRPr lang="en-US"/>
          </a:p>
        </p:txBody>
      </p:sp>
      <p:sp>
        <p:nvSpPr>
          <p:cNvPr id="7" name="TextBox 6">
            <a:extLst>
              <a:ext uri="{FF2B5EF4-FFF2-40B4-BE49-F238E27FC236}">
                <a16:creationId xmlns:a16="http://schemas.microsoft.com/office/drawing/2014/main" id="{5164B2DD-57B2-33DD-F141-0A598475C1BC}"/>
              </a:ext>
            </a:extLst>
          </p:cNvPr>
          <p:cNvSpPr txBox="1"/>
          <p:nvPr/>
        </p:nvSpPr>
        <p:spPr>
          <a:xfrm>
            <a:off x="342631" y="1251396"/>
            <a:ext cx="244054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Times New Roman"/>
                <a:cs typeface="Times New Roman"/>
              </a:rPr>
              <a:t>VGG16 MODEL</a:t>
            </a:r>
          </a:p>
        </p:txBody>
      </p:sp>
      <p:pic>
        <p:nvPicPr>
          <p:cNvPr id="8" name="Content Placeholder 7">
            <a:extLst>
              <a:ext uri="{FF2B5EF4-FFF2-40B4-BE49-F238E27FC236}">
                <a16:creationId xmlns:a16="http://schemas.microsoft.com/office/drawing/2014/main" id="{CF515F29-1927-9518-B3F9-EDE9096A81BD}"/>
              </a:ext>
            </a:extLst>
          </p:cNvPr>
          <p:cNvPicPr>
            <a:picLocks noGrp="1" noChangeAspect="1"/>
          </p:cNvPicPr>
          <p:nvPr>
            <p:ph idx="1"/>
          </p:nvPr>
        </p:nvPicPr>
        <p:blipFill>
          <a:blip r:embed="rId2"/>
          <a:stretch>
            <a:fillRect/>
          </a:stretch>
        </p:blipFill>
        <p:spPr>
          <a:xfrm>
            <a:off x="3049236" y="1255312"/>
            <a:ext cx="7888174" cy="4908082"/>
          </a:xfrm>
        </p:spPr>
      </p:pic>
    </p:spTree>
    <p:extLst>
      <p:ext uri="{BB962C8B-B14F-4D97-AF65-F5344CB8AC3E}">
        <p14:creationId xmlns:p14="http://schemas.microsoft.com/office/powerpoint/2010/main" val="39379436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BF7B30C-91C8-2396-A2EA-3111DD06DFA1}"/>
              </a:ext>
            </a:extLst>
          </p:cNvPr>
          <p:cNvSpPr>
            <a:spLocks noGrp="1"/>
          </p:cNvSpPr>
          <p:nvPr>
            <p:ph type="title"/>
          </p:nvPr>
        </p:nvSpPr>
        <p:spPr/>
        <p:txBody>
          <a:bodyPr/>
          <a:lstStyle/>
          <a:p>
            <a:r>
              <a:rPr lang="en-US"/>
              <a:t>Model Building </a:t>
            </a:r>
            <a:endParaRPr lang="en-US">
              <a:solidFill>
                <a:srgbClr val="000000"/>
              </a:solidFill>
            </a:endParaRPr>
          </a:p>
        </p:txBody>
      </p:sp>
      <p:sp>
        <p:nvSpPr>
          <p:cNvPr id="4" name="Footer Placeholder 3">
            <a:extLst>
              <a:ext uri="{FF2B5EF4-FFF2-40B4-BE49-F238E27FC236}">
                <a16:creationId xmlns:a16="http://schemas.microsoft.com/office/drawing/2014/main" id="{05952F1C-48B6-22F6-351D-8FBD4DB7363D}"/>
              </a:ext>
            </a:extLst>
          </p:cNvPr>
          <p:cNvSpPr>
            <a:spLocks noGrp="1"/>
          </p:cNvSpPr>
          <p:nvPr>
            <p:ph type="ftr" sz="quarter" idx="11"/>
          </p:nvPr>
        </p:nvSpPr>
        <p:spPr/>
        <p:txBody>
          <a:bodyPr/>
          <a:lstStyle/>
          <a:p>
            <a:r>
              <a:rPr lang="en-US"/>
              <a:t>21AIE312</a:t>
            </a:r>
          </a:p>
        </p:txBody>
      </p:sp>
      <p:sp>
        <p:nvSpPr>
          <p:cNvPr id="5" name="Slide Number Placeholder 4">
            <a:extLst>
              <a:ext uri="{FF2B5EF4-FFF2-40B4-BE49-F238E27FC236}">
                <a16:creationId xmlns:a16="http://schemas.microsoft.com/office/drawing/2014/main" id="{F1BD1F99-3B2C-3C15-02C5-EBD4AE147585}"/>
              </a:ext>
            </a:extLst>
          </p:cNvPr>
          <p:cNvSpPr>
            <a:spLocks noGrp="1"/>
          </p:cNvSpPr>
          <p:nvPr>
            <p:ph type="sldNum" sz="quarter" idx="12"/>
          </p:nvPr>
        </p:nvSpPr>
        <p:spPr/>
        <p:txBody>
          <a:bodyPr/>
          <a:lstStyle/>
          <a:p>
            <a:fld id="{71766878-3199-4EAB-94E7-2D6D11070E14}" type="slidenum">
              <a:rPr lang="en-US" smtClean="0"/>
              <a:pPr/>
              <a:t>14</a:t>
            </a:fld>
            <a:endParaRPr lang="en-US"/>
          </a:p>
        </p:txBody>
      </p:sp>
      <p:sp>
        <p:nvSpPr>
          <p:cNvPr id="7" name="TextBox 6">
            <a:extLst>
              <a:ext uri="{FF2B5EF4-FFF2-40B4-BE49-F238E27FC236}">
                <a16:creationId xmlns:a16="http://schemas.microsoft.com/office/drawing/2014/main" id="{5164B2DD-57B2-33DD-F141-0A598475C1BC}"/>
              </a:ext>
            </a:extLst>
          </p:cNvPr>
          <p:cNvSpPr txBox="1"/>
          <p:nvPr/>
        </p:nvSpPr>
        <p:spPr>
          <a:xfrm>
            <a:off x="342631" y="1251396"/>
            <a:ext cx="269812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Times New Roman"/>
                <a:cs typeface="Times New Roman"/>
              </a:rPr>
              <a:t>ResNet50 MODEL</a:t>
            </a:r>
          </a:p>
        </p:txBody>
      </p:sp>
      <p:pic>
        <p:nvPicPr>
          <p:cNvPr id="9" name="Content Placeholder 8" descr="A diagram of a block diagram&#10;&#10;Description automatically generated">
            <a:extLst>
              <a:ext uri="{FF2B5EF4-FFF2-40B4-BE49-F238E27FC236}">
                <a16:creationId xmlns:a16="http://schemas.microsoft.com/office/drawing/2014/main" id="{5EA2ADAD-17B1-7808-D527-1988F4A891C2}"/>
              </a:ext>
            </a:extLst>
          </p:cNvPr>
          <p:cNvPicPr>
            <a:picLocks noGrp="1" noChangeAspect="1"/>
          </p:cNvPicPr>
          <p:nvPr>
            <p:ph idx="1"/>
          </p:nvPr>
        </p:nvPicPr>
        <p:blipFill>
          <a:blip r:embed="rId2"/>
          <a:stretch>
            <a:fillRect/>
          </a:stretch>
        </p:blipFill>
        <p:spPr>
          <a:xfrm>
            <a:off x="1597305" y="1695340"/>
            <a:ext cx="10040769" cy="4349998"/>
          </a:xfrm>
        </p:spPr>
      </p:pic>
    </p:spTree>
    <p:extLst>
      <p:ext uri="{BB962C8B-B14F-4D97-AF65-F5344CB8AC3E}">
        <p14:creationId xmlns:p14="http://schemas.microsoft.com/office/powerpoint/2010/main" val="39778260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41194" y="1137256"/>
            <a:ext cx="7959529" cy="4908082"/>
          </a:xfrm>
        </p:spPr>
        <p:txBody>
          <a:bodyPr vert="horz" lIns="91440" tIns="45720" rIns="91440" bIns="45720" rtlCol="0" anchor="t">
            <a:normAutofit fontScale="92500" lnSpcReduction="10000"/>
          </a:bodyPr>
          <a:lstStyle/>
          <a:p>
            <a:r>
              <a:rPr lang="en-US">
                <a:latin typeface="Georgia"/>
                <a:cs typeface="Times New Roman"/>
              </a:rPr>
              <a:t>Semantic Features Serialization</a:t>
            </a:r>
          </a:p>
          <a:p>
            <a:pPr lvl="1">
              <a:buFont typeface="Courier New" panose="020B0604020202020204" pitchFamily="34" charset="0"/>
              <a:buChar char="o"/>
            </a:pPr>
            <a:r>
              <a:rPr lang="en-US">
                <a:latin typeface="Georgia"/>
                <a:cs typeface="Times New Roman"/>
              </a:rPr>
              <a:t>The 4-dimentional array form of the semantic features is converted to the form string with JSON</a:t>
            </a:r>
          </a:p>
          <a:p>
            <a:pPr marL="457200" lvl="1" indent="0">
              <a:buNone/>
            </a:pPr>
            <a:endParaRPr lang="en-US">
              <a:latin typeface="Georgia"/>
              <a:cs typeface="Times New Roman"/>
            </a:endParaRPr>
          </a:p>
          <a:p>
            <a:r>
              <a:rPr lang="en-US">
                <a:latin typeface="Times New Roman"/>
                <a:cs typeface="Times New Roman"/>
              </a:rPr>
              <a:t>Embedding Message into image:</a:t>
            </a:r>
            <a:endParaRPr lang="en-US">
              <a:latin typeface="Georgia"/>
              <a:cs typeface="Times New Roman"/>
            </a:endParaRPr>
          </a:p>
          <a:p>
            <a:pPr lvl="1">
              <a:buFont typeface="Courier New" panose="020B0604020202020204" pitchFamily="34" charset="0"/>
              <a:buChar char="o"/>
            </a:pPr>
            <a:r>
              <a:rPr lang="en-US">
                <a:latin typeface="Georgia"/>
                <a:cs typeface="Times New Roman"/>
              </a:rPr>
              <a:t>JSON string representing semantic features undergoes fragmentation. </a:t>
            </a:r>
            <a:endParaRPr lang="en-US">
              <a:latin typeface="Times New Roman"/>
              <a:cs typeface="Times New Roman"/>
            </a:endParaRPr>
          </a:p>
          <a:p>
            <a:pPr lvl="1">
              <a:buFont typeface="Courier New" panose="020B0604020202020204" pitchFamily="34" charset="0"/>
              <a:buChar char="o"/>
            </a:pPr>
            <a:r>
              <a:rPr lang="en-US">
                <a:latin typeface="Georgia"/>
                <a:cs typeface="Times New Roman"/>
              </a:rPr>
              <a:t>Each fragment is concealed within separate images utilizing the Least Significant Bit. </a:t>
            </a:r>
          </a:p>
          <a:p>
            <a:pPr lvl="1">
              <a:buFont typeface="Courier New" panose="020B0604020202020204" pitchFamily="34" charset="0"/>
              <a:buChar char="o"/>
            </a:pPr>
            <a:endParaRPr lang="en-US">
              <a:latin typeface="Georgia"/>
              <a:cs typeface="Times New Roman"/>
            </a:endParaRPr>
          </a:p>
          <a:p>
            <a:r>
              <a:rPr lang="en-US">
                <a:latin typeface="Georgia"/>
                <a:cs typeface="Times New Roman"/>
              </a:rPr>
              <a:t>Creation of Sprite image:</a:t>
            </a:r>
          </a:p>
          <a:p>
            <a:pPr lvl="1">
              <a:buFont typeface="Courier New" panose="020B0604020202020204" pitchFamily="34" charset="0"/>
              <a:buChar char="o"/>
            </a:pPr>
            <a:r>
              <a:rPr lang="en-US">
                <a:latin typeface="Georgia"/>
                <a:cs typeface="Times New Roman"/>
              </a:rPr>
              <a:t>The amalgamation of images, each containing fragments of the JSON string.</a:t>
            </a:r>
          </a:p>
          <a:p>
            <a:pPr lvl="1">
              <a:buFont typeface="Courier New" panose="020B0604020202020204" pitchFamily="34" charset="0"/>
              <a:buChar char="o"/>
            </a:pPr>
            <a:r>
              <a:rPr lang="en-US">
                <a:latin typeface="Georgia"/>
                <a:cs typeface="Times New Roman"/>
              </a:rPr>
              <a:t>Forms a collaged image called a Sprite image.  </a:t>
            </a:r>
          </a:p>
          <a:p>
            <a:endParaRPr lang="en-US">
              <a:latin typeface="Georgia"/>
              <a:cs typeface="Times New Roman"/>
            </a:endParaRPr>
          </a:p>
          <a:p>
            <a:endParaRPr lang="en-US">
              <a:latin typeface="Georgia"/>
              <a:cs typeface="Times New Roman"/>
            </a:endParaRPr>
          </a:p>
          <a:p>
            <a:endParaRPr lang="en-US">
              <a:latin typeface="Georgia"/>
              <a:cs typeface="Times New Roman"/>
            </a:endParaRPr>
          </a:p>
          <a:p>
            <a:endParaRPr lang="en-US">
              <a:latin typeface="Georgia"/>
              <a:cs typeface="Times New Roman"/>
            </a:endParaRPr>
          </a:p>
          <a:p>
            <a:endParaRPr lang="en-US">
              <a:latin typeface="Georgia"/>
              <a:cs typeface="Times New Roman"/>
            </a:endParaRPr>
          </a:p>
          <a:p>
            <a:endParaRPr lang="en-US">
              <a:latin typeface="Georgia"/>
              <a:cs typeface="Times New Roman"/>
            </a:endParaRPr>
          </a:p>
          <a:p>
            <a:pPr lvl="1">
              <a:buFont typeface="Courier New" panose="020B0604020202020204" pitchFamily="34" charset="0"/>
              <a:buChar char="o"/>
            </a:pPr>
            <a:endParaRPr lang="en-US">
              <a:latin typeface="Georgia"/>
              <a:cs typeface="Times New Roman"/>
            </a:endParaRPr>
          </a:p>
        </p:txBody>
      </p:sp>
      <p:sp>
        <p:nvSpPr>
          <p:cNvPr id="3" name="Title 2"/>
          <p:cNvSpPr>
            <a:spLocks noGrp="1"/>
          </p:cNvSpPr>
          <p:nvPr>
            <p:ph type="title"/>
          </p:nvPr>
        </p:nvSpPr>
        <p:spPr/>
        <p:txBody>
          <a:bodyPr/>
          <a:lstStyle/>
          <a:p>
            <a:r>
              <a:rPr lang="en-US"/>
              <a:t>Steganography </a:t>
            </a:r>
            <a:endParaRPr lang="en-IN"/>
          </a:p>
        </p:txBody>
      </p:sp>
      <p:sp>
        <p:nvSpPr>
          <p:cNvPr id="4" name="Footer Placeholder 3"/>
          <p:cNvSpPr>
            <a:spLocks noGrp="1"/>
          </p:cNvSpPr>
          <p:nvPr>
            <p:ph type="ftr" sz="quarter" idx="11"/>
          </p:nvPr>
        </p:nvSpPr>
        <p:spPr/>
        <p:txBody>
          <a:bodyPr/>
          <a:lstStyle/>
          <a:p>
            <a:r>
              <a:rPr lang="en-US">
                <a:solidFill>
                  <a:prstClr val="white"/>
                </a:solidFill>
              </a:rPr>
              <a:t>21AIE312</a:t>
            </a:r>
            <a:endParaRPr lang="en-US"/>
          </a:p>
        </p:txBody>
      </p:sp>
      <p:sp>
        <p:nvSpPr>
          <p:cNvPr id="5" name="Slide Number Placeholder 4"/>
          <p:cNvSpPr>
            <a:spLocks noGrp="1"/>
          </p:cNvSpPr>
          <p:nvPr>
            <p:ph type="sldNum" sz="quarter" idx="12"/>
          </p:nvPr>
        </p:nvSpPr>
        <p:spPr/>
        <p:txBody>
          <a:bodyPr/>
          <a:lstStyle/>
          <a:p>
            <a:fld id="{71766878-3199-4EAB-94E7-2D6D11070E14}" type="slidenum">
              <a:rPr lang="en-US" smtClean="0"/>
              <a:pPr/>
              <a:t>15</a:t>
            </a:fld>
            <a:endParaRPr lang="en-US"/>
          </a:p>
        </p:txBody>
      </p:sp>
      <p:pic>
        <p:nvPicPr>
          <p:cNvPr id="6" name="Picture 5" descr="A collage of paintings&#10;&#10;Description automatically generated">
            <a:extLst>
              <a:ext uri="{FF2B5EF4-FFF2-40B4-BE49-F238E27FC236}">
                <a16:creationId xmlns:a16="http://schemas.microsoft.com/office/drawing/2014/main" id="{A2E57E0E-0738-5B42-4CF7-1EF8469A8AF3}"/>
              </a:ext>
            </a:extLst>
          </p:cNvPr>
          <p:cNvPicPr>
            <a:picLocks noChangeAspect="1"/>
          </p:cNvPicPr>
          <p:nvPr/>
        </p:nvPicPr>
        <p:blipFill>
          <a:blip r:embed="rId2"/>
          <a:stretch>
            <a:fillRect/>
          </a:stretch>
        </p:blipFill>
        <p:spPr>
          <a:xfrm>
            <a:off x="8407489" y="1459606"/>
            <a:ext cx="3544374" cy="4722254"/>
          </a:xfrm>
          <a:prstGeom prst="rect">
            <a:avLst/>
          </a:prstGeom>
        </p:spPr>
      </p:pic>
    </p:spTree>
    <p:extLst>
      <p:ext uri="{BB962C8B-B14F-4D97-AF65-F5344CB8AC3E}">
        <p14:creationId xmlns:p14="http://schemas.microsoft.com/office/powerpoint/2010/main" val="37033377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41194" y="1137256"/>
            <a:ext cx="11436824" cy="4908082"/>
          </a:xfrm>
        </p:spPr>
        <p:txBody>
          <a:bodyPr vert="horz" lIns="91440" tIns="45720" rIns="91440" bIns="45720" rtlCol="0" anchor="t">
            <a:normAutofit/>
          </a:bodyPr>
          <a:lstStyle/>
          <a:p>
            <a:r>
              <a:rPr lang="en-US">
                <a:latin typeface="Georgia"/>
                <a:cs typeface="Times New Roman"/>
              </a:rPr>
              <a:t>Extraction of Embedded Messages:</a:t>
            </a:r>
            <a:endParaRPr lang="en-US">
              <a:cs typeface="Times New Roman"/>
            </a:endParaRPr>
          </a:p>
          <a:p>
            <a:pPr lvl="1">
              <a:buFont typeface="Courier New" panose="020B0604020202020204" pitchFamily="34" charset="0"/>
              <a:buChar char="o"/>
            </a:pPr>
            <a:r>
              <a:rPr lang="en-US">
                <a:latin typeface="Georgia"/>
                <a:cs typeface="Times New Roman"/>
              </a:rPr>
              <a:t>The sprite image is segmented into individual images.</a:t>
            </a:r>
          </a:p>
          <a:p>
            <a:pPr lvl="1">
              <a:buFont typeface="Courier New" panose="020B0604020202020204" pitchFamily="34" charset="0"/>
              <a:buChar char="o"/>
            </a:pPr>
            <a:r>
              <a:rPr lang="en-US">
                <a:latin typeface="Georgia"/>
                <a:cs typeface="Times New Roman"/>
              </a:rPr>
              <a:t>Each segment of the embedded message is extracted.</a:t>
            </a:r>
          </a:p>
          <a:p>
            <a:pPr lvl="1">
              <a:buFont typeface="Courier New" panose="020B0604020202020204" pitchFamily="34" charset="0"/>
              <a:buChar char="o"/>
            </a:pPr>
            <a:r>
              <a:rPr lang="en-US">
                <a:latin typeface="Georgia"/>
                <a:cs typeface="Times New Roman"/>
              </a:rPr>
              <a:t>These messages are then concatenated to reconstruct the original JSON string.</a:t>
            </a:r>
          </a:p>
          <a:p>
            <a:pPr lvl="1">
              <a:buFont typeface="Courier New" panose="020B0604020202020204" pitchFamily="34" charset="0"/>
              <a:buChar char="o"/>
            </a:pPr>
            <a:endParaRPr lang="en-US">
              <a:latin typeface="Georgia"/>
              <a:cs typeface="Times New Roman"/>
            </a:endParaRPr>
          </a:p>
          <a:p>
            <a:r>
              <a:rPr lang="en-US">
                <a:latin typeface="Georgia"/>
                <a:cs typeface="Times New Roman"/>
              </a:rPr>
              <a:t>Recovery of Semantic Features:</a:t>
            </a:r>
          </a:p>
          <a:p>
            <a:pPr lvl="1">
              <a:buFont typeface="Courier New" panose="020B0604020202020204" pitchFamily="34" charset="0"/>
              <a:buChar char="o"/>
            </a:pPr>
            <a:r>
              <a:rPr lang="en-US">
                <a:latin typeface="Georgia"/>
                <a:cs typeface="Times New Roman"/>
              </a:rPr>
              <a:t>The reconstructed JSON string is deserialized back into a list of semantic features. </a:t>
            </a:r>
          </a:p>
          <a:p>
            <a:endParaRPr lang="en-US">
              <a:latin typeface="Georgia"/>
              <a:cs typeface="Times New Roman"/>
            </a:endParaRPr>
          </a:p>
          <a:p>
            <a:endParaRPr lang="en-US">
              <a:latin typeface="Georgia"/>
              <a:cs typeface="Times New Roman"/>
            </a:endParaRPr>
          </a:p>
          <a:p>
            <a:endParaRPr lang="en-US">
              <a:latin typeface="Georgia"/>
              <a:cs typeface="Times New Roman"/>
            </a:endParaRPr>
          </a:p>
          <a:p>
            <a:endParaRPr lang="en-US">
              <a:latin typeface="Georgia"/>
              <a:cs typeface="Times New Roman"/>
            </a:endParaRPr>
          </a:p>
          <a:p>
            <a:endParaRPr lang="en-US">
              <a:latin typeface="Georgia"/>
              <a:cs typeface="Times New Roman"/>
            </a:endParaRPr>
          </a:p>
          <a:p>
            <a:pPr lvl="1">
              <a:buFont typeface="Courier New" panose="020B0604020202020204" pitchFamily="34" charset="0"/>
              <a:buChar char="o"/>
            </a:pPr>
            <a:endParaRPr lang="en-US">
              <a:latin typeface="Georgia"/>
              <a:cs typeface="Times New Roman"/>
            </a:endParaRPr>
          </a:p>
        </p:txBody>
      </p:sp>
      <p:sp>
        <p:nvSpPr>
          <p:cNvPr id="3" name="Title 2"/>
          <p:cNvSpPr>
            <a:spLocks noGrp="1"/>
          </p:cNvSpPr>
          <p:nvPr>
            <p:ph type="title"/>
          </p:nvPr>
        </p:nvSpPr>
        <p:spPr/>
        <p:txBody>
          <a:bodyPr/>
          <a:lstStyle/>
          <a:p>
            <a:r>
              <a:rPr lang="en-US"/>
              <a:t>Steganography </a:t>
            </a:r>
            <a:endParaRPr lang="en-IN"/>
          </a:p>
        </p:txBody>
      </p:sp>
      <p:sp>
        <p:nvSpPr>
          <p:cNvPr id="4" name="Footer Placeholder 3"/>
          <p:cNvSpPr>
            <a:spLocks noGrp="1"/>
          </p:cNvSpPr>
          <p:nvPr>
            <p:ph type="ftr" sz="quarter" idx="11"/>
          </p:nvPr>
        </p:nvSpPr>
        <p:spPr/>
        <p:txBody>
          <a:bodyPr/>
          <a:lstStyle/>
          <a:p>
            <a:r>
              <a:rPr lang="en-US">
                <a:solidFill>
                  <a:prstClr val="white"/>
                </a:solidFill>
              </a:rPr>
              <a:t>21AIE312</a:t>
            </a:r>
            <a:endParaRPr lang="en-US"/>
          </a:p>
        </p:txBody>
      </p:sp>
      <p:sp>
        <p:nvSpPr>
          <p:cNvPr id="5" name="Slide Number Placeholder 4"/>
          <p:cNvSpPr>
            <a:spLocks noGrp="1"/>
          </p:cNvSpPr>
          <p:nvPr>
            <p:ph type="sldNum" sz="quarter" idx="12"/>
          </p:nvPr>
        </p:nvSpPr>
        <p:spPr/>
        <p:txBody>
          <a:bodyPr/>
          <a:lstStyle/>
          <a:p>
            <a:fld id="{71766878-3199-4EAB-94E7-2D6D11070E14}" type="slidenum">
              <a:rPr lang="en-US" smtClean="0"/>
              <a:pPr/>
              <a:t>16</a:t>
            </a:fld>
            <a:endParaRPr lang="en-US"/>
          </a:p>
        </p:txBody>
      </p:sp>
    </p:spTree>
    <p:extLst>
      <p:ext uri="{BB962C8B-B14F-4D97-AF65-F5344CB8AC3E}">
        <p14:creationId xmlns:p14="http://schemas.microsoft.com/office/powerpoint/2010/main" val="30982293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a:t>Decoder architecture has been implemented.</a:t>
            </a:r>
          </a:p>
          <a:p>
            <a:endParaRPr lang="en-US"/>
          </a:p>
          <a:p>
            <a:r>
              <a:rPr lang="en-US"/>
              <a:t>3 Deep learning models have been used</a:t>
            </a:r>
          </a:p>
          <a:p>
            <a:endParaRPr lang="en-US"/>
          </a:p>
          <a:p>
            <a:r>
              <a:rPr lang="en-US"/>
              <a:t>Convolutional </a:t>
            </a:r>
            <a:r>
              <a:rPr lang="en-US" err="1"/>
              <a:t>Autoencoder</a:t>
            </a:r>
            <a:r>
              <a:rPr lang="en-US"/>
              <a:t> (CAE)</a:t>
            </a:r>
          </a:p>
          <a:p>
            <a:endParaRPr lang="en-US"/>
          </a:p>
          <a:p>
            <a:r>
              <a:rPr lang="en-US"/>
              <a:t>VGG-16 </a:t>
            </a:r>
          </a:p>
          <a:p>
            <a:endParaRPr lang="en-US"/>
          </a:p>
          <a:p>
            <a:r>
              <a:rPr lang="en-US"/>
              <a:t>ResNet-50 </a:t>
            </a:r>
          </a:p>
          <a:p>
            <a:endParaRPr lang="en-IN"/>
          </a:p>
        </p:txBody>
      </p:sp>
      <p:sp>
        <p:nvSpPr>
          <p:cNvPr id="3" name="Title 2"/>
          <p:cNvSpPr>
            <a:spLocks noGrp="1"/>
          </p:cNvSpPr>
          <p:nvPr>
            <p:ph type="title"/>
          </p:nvPr>
        </p:nvSpPr>
        <p:spPr/>
        <p:txBody>
          <a:bodyPr/>
          <a:lstStyle/>
          <a:p>
            <a:r>
              <a:rPr lang="en-US"/>
              <a:t>Image reconstruction </a:t>
            </a:r>
            <a:endParaRPr lang="en-IN"/>
          </a:p>
        </p:txBody>
      </p:sp>
      <p:sp>
        <p:nvSpPr>
          <p:cNvPr id="4" name="Footer Placeholder 3"/>
          <p:cNvSpPr>
            <a:spLocks noGrp="1"/>
          </p:cNvSpPr>
          <p:nvPr>
            <p:ph type="ftr" sz="quarter" idx="11"/>
          </p:nvPr>
        </p:nvSpPr>
        <p:spPr/>
        <p:txBody>
          <a:bodyPr/>
          <a:lstStyle/>
          <a:p>
            <a:r>
              <a:rPr lang="en-US">
                <a:solidFill>
                  <a:prstClr val="white"/>
                </a:solidFill>
              </a:rPr>
              <a:t>21AIE312</a:t>
            </a:r>
            <a:endParaRPr lang="en-US"/>
          </a:p>
        </p:txBody>
      </p:sp>
      <p:sp>
        <p:nvSpPr>
          <p:cNvPr id="5" name="Slide Number Placeholder 4"/>
          <p:cNvSpPr>
            <a:spLocks noGrp="1"/>
          </p:cNvSpPr>
          <p:nvPr>
            <p:ph type="sldNum" sz="quarter" idx="12"/>
          </p:nvPr>
        </p:nvSpPr>
        <p:spPr/>
        <p:txBody>
          <a:bodyPr/>
          <a:lstStyle/>
          <a:p>
            <a:fld id="{71766878-3199-4EAB-94E7-2D6D11070E14}" type="slidenum">
              <a:rPr lang="en-US" smtClean="0"/>
              <a:pPr/>
              <a:t>17</a:t>
            </a:fld>
            <a:endParaRPr lang="en-US"/>
          </a:p>
        </p:txBody>
      </p:sp>
    </p:spTree>
    <p:extLst>
      <p:ext uri="{BB962C8B-B14F-4D97-AF65-F5344CB8AC3E}">
        <p14:creationId xmlns:p14="http://schemas.microsoft.com/office/powerpoint/2010/main" val="38279331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F25E0F-44F6-E7F3-8B30-13A9EDC10168}"/>
              </a:ext>
            </a:extLst>
          </p:cNvPr>
          <p:cNvSpPr>
            <a:spLocks noGrp="1"/>
          </p:cNvSpPr>
          <p:nvPr>
            <p:ph idx="1"/>
          </p:nvPr>
        </p:nvSpPr>
        <p:spPr/>
        <p:txBody>
          <a:bodyPr vert="horz" lIns="91440" tIns="45720" rIns="91440" bIns="45720" rtlCol="0" anchor="t">
            <a:normAutofit/>
          </a:bodyPr>
          <a:lstStyle/>
          <a:p>
            <a:r>
              <a:rPr lang="en-US">
                <a:latin typeface="Georgia"/>
              </a:rPr>
              <a:t>SSIM - Structural Similarity Index Measure</a:t>
            </a:r>
          </a:p>
          <a:p>
            <a:endParaRPr lang="en-US">
              <a:latin typeface="Georgia"/>
            </a:endParaRPr>
          </a:p>
          <a:p>
            <a:r>
              <a:rPr lang="en-US">
                <a:latin typeface="Georgia"/>
              </a:rPr>
              <a:t>PSNR - Peak Signal-to-Noise Ratio</a:t>
            </a:r>
          </a:p>
          <a:p>
            <a:endParaRPr lang="en-US">
              <a:latin typeface="Georgia"/>
            </a:endParaRPr>
          </a:p>
          <a:p>
            <a:r>
              <a:rPr lang="en-US">
                <a:latin typeface="Georgia"/>
              </a:rPr>
              <a:t>MAE - Mean Absolute Error</a:t>
            </a:r>
            <a:endParaRPr lang="en-US">
              <a:solidFill>
                <a:srgbClr val="000000"/>
              </a:solidFill>
              <a:latin typeface="Georgia"/>
            </a:endParaRPr>
          </a:p>
          <a:p>
            <a:endParaRPr lang="en-US">
              <a:latin typeface="Georgia"/>
            </a:endParaRPr>
          </a:p>
          <a:p>
            <a:r>
              <a:rPr lang="en-US">
                <a:latin typeface="Georgia"/>
              </a:rPr>
              <a:t>MSE - Mean Square Error</a:t>
            </a:r>
            <a:endParaRPr lang="en-US"/>
          </a:p>
        </p:txBody>
      </p:sp>
      <p:sp>
        <p:nvSpPr>
          <p:cNvPr id="3" name="Title 2">
            <a:extLst>
              <a:ext uri="{FF2B5EF4-FFF2-40B4-BE49-F238E27FC236}">
                <a16:creationId xmlns:a16="http://schemas.microsoft.com/office/drawing/2014/main" id="{853B6163-6317-8E4A-DCD1-74241791D2D8}"/>
              </a:ext>
            </a:extLst>
          </p:cNvPr>
          <p:cNvSpPr>
            <a:spLocks noGrp="1"/>
          </p:cNvSpPr>
          <p:nvPr>
            <p:ph type="title"/>
          </p:nvPr>
        </p:nvSpPr>
        <p:spPr/>
        <p:txBody>
          <a:bodyPr/>
          <a:lstStyle/>
          <a:p>
            <a:r>
              <a:rPr lang="en-US" b="1">
                <a:latin typeface="Georgia"/>
              </a:rPr>
              <a:t>Evaluation Metrics</a:t>
            </a:r>
            <a:endParaRPr lang="en-US" b="1"/>
          </a:p>
        </p:txBody>
      </p:sp>
      <p:sp>
        <p:nvSpPr>
          <p:cNvPr id="4" name="Footer Placeholder 3">
            <a:extLst>
              <a:ext uri="{FF2B5EF4-FFF2-40B4-BE49-F238E27FC236}">
                <a16:creationId xmlns:a16="http://schemas.microsoft.com/office/drawing/2014/main" id="{93035BE8-0797-1BCB-4951-EB9787BE923E}"/>
              </a:ext>
            </a:extLst>
          </p:cNvPr>
          <p:cNvSpPr>
            <a:spLocks noGrp="1"/>
          </p:cNvSpPr>
          <p:nvPr>
            <p:ph type="ftr" sz="quarter" idx="11"/>
          </p:nvPr>
        </p:nvSpPr>
        <p:spPr/>
        <p:txBody>
          <a:bodyPr/>
          <a:lstStyle/>
          <a:p>
            <a:r>
              <a:rPr lang="en-US"/>
              <a:t>21AIE312</a:t>
            </a:r>
          </a:p>
        </p:txBody>
      </p:sp>
      <p:sp>
        <p:nvSpPr>
          <p:cNvPr id="5" name="Slide Number Placeholder 4">
            <a:extLst>
              <a:ext uri="{FF2B5EF4-FFF2-40B4-BE49-F238E27FC236}">
                <a16:creationId xmlns:a16="http://schemas.microsoft.com/office/drawing/2014/main" id="{0DE384A1-ABB0-3D10-A4E4-B4E9D2230195}"/>
              </a:ext>
            </a:extLst>
          </p:cNvPr>
          <p:cNvSpPr>
            <a:spLocks noGrp="1"/>
          </p:cNvSpPr>
          <p:nvPr>
            <p:ph type="sldNum" sz="quarter" idx="12"/>
          </p:nvPr>
        </p:nvSpPr>
        <p:spPr/>
        <p:txBody>
          <a:bodyPr/>
          <a:lstStyle/>
          <a:p>
            <a:fld id="{71766878-3199-4EAB-94E7-2D6D11070E14}" type="slidenum">
              <a:rPr lang="en-US" smtClean="0"/>
              <a:pPr/>
              <a:t>18</a:t>
            </a:fld>
            <a:endParaRPr lang="en-US"/>
          </a:p>
        </p:txBody>
      </p:sp>
    </p:spTree>
    <p:extLst>
      <p:ext uri="{BB962C8B-B14F-4D97-AF65-F5344CB8AC3E}">
        <p14:creationId xmlns:p14="http://schemas.microsoft.com/office/powerpoint/2010/main" val="2365778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80532" y="4645417"/>
            <a:ext cx="9158145" cy="1556885"/>
          </a:xfrm>
        </p:spPr>
      </p:pic>
      <p:sp>
        <p:nvSpPr>
          <p:cNvPr id="3" name="Title 2"/>
          <p:cNvSpPr>
            <a:spLocks noGrp="1"/>
          </p:cNvSpPr>
          <p:nvPr>
            <p:ph type="title"/>
          </p:nvPr>
        </p:nvSpPr>
        <p:spPr>
          <a:xfrm>
            <a:off x="341192" y="22457"/>
            <a:ext cx="11436823" cy="421441"/>
          </a:xfrm>
        </p:spPr>
        <p:txBody>
          <a:bodyPr/>
          <a:lstStyle/>
          <a:p>
            <a:r>
              <a:rPr lang="en-US" b="1"/>
              <a:t>Results and discussions</a:t>
            </a:r>
            <a:endParaRPr lang="en-IN" b="1"/>
          </a:p>
        </p:txBody>
      </p:sp>
      <p:sp>
        <p:nvSpPr>
          <p:cNvPr id="4" name="Footer Placeholder 3"/>
          <p:cNvSpPr>
            <a:spLocks noGrp="1"/>
          </p:cNvSpPr>
          <p:nvPr>
            <p:ph type="ftr" sz="quarter" idx="11"/>
          </p:nvPr>
        </p:nvSpPr>
        <p:spPr/>
        <p:txBody>
          <a:bodyPr/>
          <a:lstStyle/>
          <a:p>
            <a:r>
              <a:rPr lang="en-US">
                <a:solidFill>
                  <a:prstClr val="white"/>
                </a:solidFill>
              </a:rPr>
              <a:t>21AIE312</a:t>
            </a:r>
            <a:endParaRPr lang="en-US"/>
          </a:p>
        </p:txBody>
      </p:sp>
      <p:sp>
        <p:nvSpPr>
          <p:cNvPr id="5" name="Slide Number Placeholder 4"/>
          <p:cNvSpPr>
            <a:spLocks noGrp="1"/>
          </p:cNvSpPr>
          <p:nvPr>
            <p:ph type="sldNum" sz="quarter" idx="12"/>
          </p:nvPr>
        </p:nvSpPr>
        <p:spPr/>
        <p:txBody>
          <a:bodyPr/>
          <a:lstStyle/>
          <a:p>
            <a:fld id="{71766878-3199-4EAB-94E7-2D6D11070E14}" type="slidenum">
              <a:rPr lang="en-US" smtClean="0"/>
              <a:pPr/>
              <a:t>19</a:t>
            </a:fld>
            <a:endParaRPr lang="en-US"/>
          </a:p>
        </p:txBody>
      </p:sp>
      <p:pic>
        <p:nvPicPr>
          <p:cNvPr id="6" name="Picture 5"/>
          <p:cNvPicPr>
            <a:picLocks noChangeAspect="1"/>
          </p:cNvPicPr>
          <p:nvPr/>
        </p:nvPicPr>
        <p:blipFill>
          <a:blip r:embed="rId3"/>
          <a:stretch>
            <a:fillRect/>
          </a:stretch>
        </p:blipFill>
        <p:spPr>
          <a:xfrm>
            <a:off x="1219258" y="2609339"/>
            <a:ext cx="9680692" cy="1706222"/>
          </a:xfrm>
          <a:prstGeom prst="rect">
            <a:avLst/>
          </a:prstGeom>
        </p:spPr>
      </p:pic>
      <p:pic>
        <p:nvPicPr>
          <p:cNvPr id="2" name="Picture 1" descr="A table of test results&#10;&#10;Description automatically generated">
            <a:extLst>
              <a:ext uri="{FF2B5EF4-FFF2-40B4-BE49-F238E27FC236}">
                <a16:creationId xmlns:a16="http://schemas.microsoft.com/office/drawing/2014/main" id="{10281888-1CF3-7828-0E7A-D0BC9A84C908}"/>
              </a:ext>
            </a:extLst>
          </p:cNvPr>
          <p:cNvPicPr>
            <a:picLocks noChangeAspect="1"/>
          </p:cNvPicPr>
          <p:nvPr/>
        </p:nvPicPr>
        <p:blipFill>
          <a:blip r:embed="rId4"/>
          <a:stretch>
            <a:fillRect/>
          </a:stretch>
        </p:blipFill>
        <p:spPr>
          <a:xfrm>
            <a:off x="2897746" y="452947"/>
            <a:ext cx="6192591" cy="2152841"/>
          </a:xfrm>
          <a:prstGeom prst="rect">
            <a:avLst/>
          </a:prstGeom>
        </p:spPr>
      </p:pic>
    </p:spTree>
    <p:extLst>
      <p:ext uri="{BB962C8B-B14F-4D97-AF65-F5344CB8AC3E}">
        <p14:creationId xmlns:p14="http://schemas.microsoft.com/office/powerpoint/2010/main" val="39663861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41192" y="430288"/>
            <a:ext cx="11436823" cy="421441"/>
          </a:xfrm>
        </p:spPr>
        <p:txBody>
          <a:bodyPr/>
          <a:lstStyle/>
          <a:p>
            <a:r>
              <a:rPr lang="en-US" b="1">
                <a:latin typeface="Georgia"/>
              </a:rPr>
              <a:t>Results and discussions</a:t>
            </a:r>
            <a:endParaRPr lang="en-IN" b="1">
              <a:latin typeface="Georgia"/>
            </a:endParaRPr>
          </a:p>
        </p:txBody>
      </p:sp>
      <p:sp>
        <p:nvSpPr>
          <p:cNvPr id="4" name="Footer Placeholder 3"/>
          <p:cNvSpPr>
            <a:spLocks noGrp="1"/>
          </p:cNvSpPr>
          <p:nvPr>
            <p:ph type="ftr" sz="quarter" idx="11"/>
          </p:nvPr>
        </p:nvSpPr>
        <p:spPr/>
        <p:txBody>
          <a:bodyPr/>
          <a:lstStyle/>
          <a:p>
            <a:r>
              <a:rPr lang="en-US">
                <a:solidFill>
                  <a:prstClr val="white"/>
                </a:solidFill>
              </a:rPr>
              <a:t>21AIE312</a:t>
            </a:r>
            <a:endParaRPr lang="en-US"/>
          </a:p>
        </p:txBody>
      </p:sp>
      <p:sp>
        <p:nvSpPr>
          <p:cNvPr id="5" name="Slide Number Placeholder 4"/>
          <p:cNvSpPr>
            <a:spLocks noGrp="1"/>
          </p:cNvSpPr>
          <p:nvPr>
            <p:ph type="sldNum" sz="quarter" idx="12"/>
          </p:nvPr>
        </p:nvSpPr>
        <p:spPr/>
        <p:txBody>
          <a:bodyPr/>
          <a:lstStyle/>
          <a:p>
            <a:fld id="{71766878-3199-4EAB-94E7-2D6D11070E14}" type="slidenum">
              <a:rPr lang="en-US" smtClean="0"/>
              <a:pPr/>
              <a:t>20</a:t>
            </a:fld>
            <a:endParaRPr lang="en-US"/>
          </a:p>
        </p:txBody>
      </p:sp>
      <p:pic>
        <p:nvPicPr>
          <p:cNvPr id="10" name="Content Placeholder 9" descr="A table with numbers and symbols&#10;&#10;Description automatically generated">
            <a:extLst>
              <a:ext uri="{FF2B5EF4-FFF2-40B4-BE49-F238E27FC236}">
                <a16:creationId xmlns:a16="http://schemas.microsoft.com/office/drawing/2014/main" id="{F8B2161E-C23C-C8D9-66E6-921195E9DB18}"/>
              </a:ext>
            </a:extLst>
          </p:cNvPr>
          <p:cNvPicPr>
            <a:picLocks noGrp="1" noChangeAspect="1"/>
          </p:cNvPicPr>
          <p:nvPr>
            <p:ph idx="1"/>
          </p:nvPr>
        </p:nvPicPr>
        <p:blipFill>
          <a:blip r:embed="rId2"/>
          <a:stretch>
            <a:fillRect/>
          </a:stretch>
        </p:blipFill>
        <p:spPr>
          <a:xfrm>
            <a:off x="341194" y="2529306"/>
            <a:ext cx="11436823" cy="2123981"/>
          </a:xfrm>
        </p:spPr>
      </p:pic>
    </p:spTree>
    <p:extLst>
      <p:ext uri="{BB962C8B-B14F-4D97-AF65-F5344CB8AC3E}">
        <p14:creationId xmlns:p14="http://schemas.microsoft.com/office/powerpoint/2010/main" val="41122513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a:t>On test data all 3 models have worked well </a:t>
            </a:r>
          </a:p>
          <a:p>
            <a:endParaRPr lang="en-US"/>
          </a:p>
          <a:p>
            <a:r>
              <a:rPr lang="en-US"/>
              <a:t>On comparison with custom input </a:t>
            </a:r>
          </a:p>
          <a:p>
            <a:pPr lvl="1"/>
            <a:r>
              <a:rPr lang="en-US"/>
              <a:t>Resized original image </a:t>
            </a:r>
            <a:r>
              <a:rPr lang="en-US" err="1"/>
              <a:t>vs</a:t>
            </a:r>
            <a:r>
              <a:rPr lang="en-US"/>
              <a:t> reconstructed image </a:t>
            </a:r>
          </a:p>
          <a:p>
            <a:pPr lvl="1"/>
            <a:r>
              <a:rPr lang="en-US"/>
              <a:t>Original image </a:t>
            </a:r>
            <a:r>
              <a:rPr lang="en-US" err="1"/>
              <a:t>vs</a:t>
            </a:r>
            <a:r>
              <a:rPr lang="en-US"/>
              <a:t> Resized Reconstructed image </a:t>
            </a:r>
          </a:p>
          <a:p>
            <a:pPr lvl="1"/>
            <a:endParaRPr lang="en-US"/>
          </a:p>
          <a:p>
            <a:r>
              <a:rPr lang="en-US"/>
              <a:t>On comparing the performance of the models with 3 comparisons we found out that ResNet-50 has performed well.</a:t>
            </a:r>
          </a:p>
          <a:p>
            <a:pPr lvl="1"/>
            <a:endParaRPr lang="en-US"/>
          </a:p>
        </p:txBody>
      </p:sp>
      <p:sp>
        <p:nvSpPr>
          <p:cNvPr id="3" name="Title 2"/>
          <p:cNvSpPr>
            <a:spLocks noGrp="1"/>
          </p:cNvSpPr>
          <p:nvPr>
            <p:ph type="title"/>
          </p:nvPr>
        </p:nvSpPr>
        <p:spPr/>
        <p:txBody>
          <a:bodyPr/>
          <a:lstStyle/>
          <a:p>
            <a:r>
              <a:rPr lang="en-US"/>
              <a:t>Results and discussions</a:t>
            </a:r>
            <a:endParaRPr lang="en-IN"/>
          </a:p>
        </p:txBody>
      </p:sp>
      <p:sp>
        <p:nvSpPr>
          <p:cNvPr id="4" name="Footer Placeholder 3"/>
          <p:cNvSpPr>
            <a:spLocks noGrp="1"/>
          </p:cNvSpPr>
          <p:nvPr>
            <p:ph type="ftr" sz="quarter" idx="11"/>
          </p:nvPr>
        </p:nvSpPr>
        <p:spPr/>
        <p:txBody>
          <a:bodyPr/>
          <a:lstStyle/>
          <a:p>
            <a:r>
              <a:rPr lang="en-US">
                <a:solidFill>
                  <a:prstClr val="white"/>
                </a:solidFill>
              </a:rPr>
              <a:t>21AIE312</a:t>
            </a:r>
            <a:endParaRPr lang="en-US"/>
          </a:p>
        </p:txBody>
      </p:sp>
      <p:sp>
        <p:nvSpPr>
          <p:cNvPr id="5" name="Slide Number Placeholder 4"/>
          <p:cNvSpPr>
            <a:spLocks noGrp="1"/>
          </p:cNvSpPr>
          <p:nvPr>
            <p:ph type="sldNum" sz="quarter" idx="12"/>
          </p:nvPr>
        </p:nvSpPr>
        <p:spPr/>
        <p:txBody>
          <a:bodyPr/>
          <a:lstStyle/>
          <a:p>
            <a:fld id="{71766878-3199-4EAB-94E7-2D6D11070E14}" type="slidenum">
              <a:rPr lang="en-US" smtClean="0"/>
              <a:pPr/>
              <a:t>21</a:t>
            </a:fld>
            <a:endParaRPr lang="en-US"/>
          </a:p>
        </p:txBody>
      </p:sp>
    </p:spTree>
    <p:extLst>
      <p:ext uri="{BB962C8B-B14F-4D97-AF65-F5344CB8AC3E}">
        <p14:creationId xmlns:p14="http://schemas.microsoft.com/office/powerpoint/2010/main" val="6144290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chor="t">
            <a:normAutofit lnSpcReduction="10000"/>
          </a:bodyPr>
          <a:lstStyle/>
          <a:p>
            <a:r>
              <a:rPr lang="en-US">
                <a:latin typeface="Georgia"/>
              </a:rPr>
              <a:t>Methodology that helps in embedding features of an image in an image file and then. </a:t>
            </a:r>
            <a:endParaRPr lang="en-US"/>
          </a:p>
          <a:p>
            <a:endParaRPr lang="en-US"/>
          </a:p>
          <a:p>
            <a:r>
              <a:rPr lang="en-US">
                <a:latin typeface="Georgia"/>
              </a:rPr>
              <a:t>Reconstructing the image back using encoder decoder architecture</a:t>
            </a:r>
          </a:p>
          <a:p>
            <a:endParaRPr lang="en-US"/>
          </a:p>
          <a:p>
            <a:r>
              <a:rPr lang="en-US">
                <a:latin typeface="Georgia"/>
              </a:rPr>
              <a:t>Three deep learning models CAE, VGG16 and Resnet-50.</a:t>
            </a:r>
          </a:p>
          <a:p>
            <a:r>
              <a:rPr lang="en-US">
                <a:latin typeface="Georgia"/>
              </a:rPr>
              <a:t>Steganography is done by Creating a sprite where the segments of image feature are embedded </a:t>
            </a:r>
            <a:endParaRPr lang="en-US"/>
          </a:p>
          <a:p>
            <a:r>
              <a:rPr lang="en-US">
                <a:latin typeface="Georgia"/>
              </a:rPr>
              <a:t> The steganography of the image is done by splitting the semantic feature </a:t>
            </a:r>
            <a:endParaRPr lang="en-US"/>
          </a:p>
          <a:p>
            <a:r>
              <a:rPr lang="en-US">
                <a:latin typeface="Georgia"/>
              </a:rPr>
              <a:t>in the carrier file is done using LSB steganography technique. </a:t>
            </a:r>
            <a:endParaRPr lang="en-US"/>
          </a:p>
          <a:p>
            <a:pPr marL="0" indent="0">
              <a:buNone/>
            </a:pPr>
            <a:endParaRPr lang="en-US"/>
          </a:p>
          <a:p>
            <a:endParaRPr lang="en-US"/>
          </a:p>
        </p:txBody>
      </p:sp>
      <p:sp>
        <p:nvSpPr>
          <p:cNvPr id="3" name="Title 2"/>
          <p:cNvSpPr>
            <a:spLocks noGrp="1"/>
          </p:cNvSpPr>
          <p:nvPr>
            <p:ph type="title"/>
          </p:nvPr>
        </p:nvSpPr>
        <p:spPr/>
        <p:txBody>
          <a:bodyPr/>
          <a:lstStyle/>
          <a:p>
            <a:r>
              <a:rPr lang="en-US"/>
              <a:t>Conclusion</a:t>
            </a:r>
            <a:endParaRPr lang="en-IN"/>
          </a:p>
        </p:txBody>
      </p:sp>
      <p:sp>
        <p:nvSpPr>
          <p:cNvPr id="4" name="Footer Placeholder 3"/>
          <p:cNvSpPr>
            <a:spLocks noGrp="1"/>
          </p:cNvSpPr>
          <p:nvPr>
            <p:ph type="ftr" sz="quarter" idx="11"/>
          </p:nvPr>
        </p:nvSpPr>
        <p:spPr/>
        <p:txBody>
          <a:bodyPr/>
          <a:lstStyle/>
          <a:p>
            <a:r>
              <a:rPr lang="en-US">
                <a:solidFill>
                  <a:prstClr val="white"/>
                </a:solidFill>
              </a:rPr>
              <a:t>21AIE312</a:t>
            </a:r>
            <a:endParaRPr lang="en-US"/>
          </a:p>
        </p:txBody>
      </p:sp>
      <p:sp>
        <p:nvSpPr>
          <p:cNvPr id="5" name="Slide Number Placeholder 4"/>
          <p:cNvSpPr>
            <a:spLocks noGrp="1"/>
          </p:cNvSpPr>
          <p:nvPr>
            <p:ph type="sldNum" sz="quarter" idx="12"/>
          </p:nvPr>
        </p:nvSpPr>
        <p:spPr/>
        <p:txBody>
          <a:bodyPr/>
          <a:lstStyle/>
          <a:p>
            <a:fld id="{71766878-3199-4EAB-94E7-2D6D11070E14}" type="slidenum">
              <a:rPr lang="en-US" smtClean="0"/>
              <a:pPr/>
              <a:t>22</a:t>
            </a:fld>
            <a:endParaRPr lang="en-US"/>
          </a:p>
        </p:txBody>
      </p:sp>
    </p:spTree>
    <p:extLst>
      <p:ext uri="{BB962C8B-B14F-4D97-AF65-F5344CB8AC3E}">
        <p14:creationId xmlns:p14="http://schemas.microsoft.com/office/powerpoint/2010/main" val="2787629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a:t>The decoder helps in reconstructing the original image back using the features extracted from the audio.</a:t>
            </a:r>
          </a:p>
          <a:p>
            <a:endParaRPr lang="en-US"/>
          </a:p>
          <a:p>
            <a:r>
              <a:rPr lang="en-US"/>
              <a:t> The best model for reconstruction was </a:t>
            </a:r>
            <a:r>
              <a:rPr lang="en-US" err="1"/>
              <a:t>Resnet</a:t>
            </a:r>
            <a:r>
              <a:rPr lang="en-US"/>
              <a:t> 50. </a:t>
            </a:r>
          </a:p>
          <a:p>
            <a:endParaRPr lang="en-US"/>
          </a:p>
          <a:p>
            <a:r>
              <a:rPr lang="en-US"/>
              <a:t>SRGAN was used further to enhance the quality of the reconstructed. </a:t>
            </a:r>
            <a:endParaRPr lang="en-IN"/>
          </a:p>
          <a:p>
            <a:endParaRPr lang="en-IN"/>
          </a:p>
        </p:txBody>
      </p:sp>
      <p:sp>
        <p:nvSpPr>
          <p:cNvPr id="3" name="Title 2"/>
          <p:cNvSpPr>
            <a:spLocks noGrp="1"/>
          </p:cNvSpPr>
          <p:nvPr>
            <p:ph type="title"/>
          </p:nvPr>
        </p:nvSpPr>
        <p:spPr/>
        <p:txBody>
          <a:bodyPr/>
          <a:lstStyle/>
          <a:p>
            <a:r>
              <a:rPr lang="en-US"/>
              <a:t>Conclusion</a:t>
            </a:r>
            <a:endParaRPr lang="en-IN"/>
          </a:p>
        </p:txBody>
      </p:sp>
      <p:sp>
        <p:nvSpPr>
          <p:cNvPr id="4" name="Footer Placeholder 3"/>
          <p:cNvSpPr>
            <a:spLocks noGrp="1"/>
          </p:cNvSpPr>
          <p:nvPr>
            <p:ph type="ftr" sz="quarter" idx="11"/>
          </p:nvPr>
        </p:nvSpPr>
        <p:spPr/>
        <p:txBody>
          <a:bodyPr/>
          <a:lstStyle/>
          <a:p>
            <a:r>
              <a:rPr lang="en-US">
                <a:solidFill>
                  <a:prstClr val="white"/>
                </a:solidFill>
              </a:rPr>
              <a:t>21AIE312</a:t>
            </a:r>
            <a:endParaRPr lang="en-US"/>
          </a:p>
        </p:txBody>
      </p:sp>
      <p:sp>
        <p:nvSpPr>
          <p:cNvPr id="5" name="Slide Number Placeholder 4"/>
          <p:cNvSpPr>
            <a:spLocks noGrp="1"/>
          </p:cNvSpPr>
          <p:nvPr>
            <p:ph type="sldNum" sz="quarter" idx="12"/>
          </p:nvPr>
        </p:nvSpPr>
        <p:spPr/>
        <p:txBody>
          <a:bodyPr/>
          <a:lstStyle/>
          <a:p>
            <a:fld id="{71766878-3199-4EAB-94E7-2D6D11070E14}" type="slidenum">
              <a:rPr lang="en-US" smtClean="0"/>
              <a:pPr/>
              <a:t>23</a:t>
            </a:fld>
            <a:endParaRPr lang="en-US"/>
          </a:p>
        </p:txBody>
      </p:sp>
    </p:spTree>
    <p:extLst>
      <p:ext uri="{BB962C8B-B14F-4D97-AF65-F5344CB8AC3E}">
        <p14:creationId xmlns:p14="http://schemas.microsoft.com/office/powerpoint/2010/main" val="762016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41194" y="933341"/>
            <a:ext cx="11436823" cy="5326644"/>
          </a:xfrm>
        </p:spPr>
        <p:txBody>
          <a:bodyPr vert="horz" lIns="91440" tIns="45720" rIns="91440" bIns="45720" rtlCol="0" anchor="t">
            <a:normAutofit fontScale="85000" lnSpcReduction="10000"/>
          </a:bodyPr>
          <a:lstStyle/>
          <a:p>
            <a:pPr marL="0" indent="0" algn="just">
              <a:buNone/>
            </a:pPr>
            <a:r>
              <a:rPr lang="en-IN" sz="1800">
                <a:latin typeface="Georgia"/>
                <a:cs typeface="Times New Roman"/>
              </a:rPr>
              <a:t>[1] </a:t>
            </a:r>
            <a:r>
              <a:rPr lang="en-IN" sz="1800" err="1">
                <a:latin typeface="Georgia"/>
                <a:cs typeface="Times New Roman"/>
              </a:rPr>
              <a:t>Zhenjie</a:t>
            </a:r>
            <a:r>
              <a:rPr lang="en-IN" sz="1800">
                <a:latin typeface="Georgia"/>
                <a:cs typeface="Times New Roman"/>
              </a:rPr>
              <a:t> Bao and Ru Xue, ”Research on the avalanche effect of image encryption based on the Cycle-GAN,” Appl. Opt. 60, 5320-5334 (2021) </a:t>
            </a:r>
            <a:endParaRPr lang="en-US">
              <a:cs typeface="Times New Roman"/>
            </a:endParaRPr>
          </a:p>
          <a:p>
            <a:pPr marL="0" indent="0" algn="just">
              <a:buNone/>
            </a:pPr>
            <a:r>
              <a:rPr lang="en-IN" sz="1800">
                <a:latin typeface="Georgia"/>
                <a:cs typeface="Times New Roman"/>
              </a:rPr>
              <a:t>[2] Y. Ding, F. Tan, Z. Qin, M. Cao, K. -K. R. Choo and Z. Qin, ”</a:t>
            </a:r>
            <a:r>
              <a:rPr lang="en-IN" sz="1800" err="1">
                <a:latin typeface="Georgia"/>
                <a:cs typeface="Times New Roman"/>
              </a:rPr>
              <a:t>DeepKeyGen</a:t>
            </a:r>
            <a:r>
              <a:rPr lang="en-IN" sz="1800">
                <a:latin typeface="Georgia"/>
                <a:cs typeface="Times New Roman"/>
              </a:rPr>
              <a:t>: A Deep Learning-Based Stream Cipher Generator for Medical Image Encryption and Decryption,” in IEEE Transactions on Neural Networks and Learning Systems, vol. 33, no. 9, pp. 4915-4929, Sept. 2022 </a:t>
            </a:r>
            <a:endParaRPr lang="en-US">
              <a:cs typeface="Times New Roman"/>
            </a:endParaRPr>
          </a:p>
          <a:p>
            <a:pPr marL="0" indent="0" algn="just">
              <a:buNone/>
            </a:pPr>
            <a:r>
              <a:rPr lang="en-IN" sz="1800">
                <a:latin typeface="Georgia"/>
                <a:cs typeface="Times New Roman"/>
              </a:rPr>
              <a:t>[3] Liu, Z., Xue, R. Visual image encryption based on compressed sensing and Cycle-GAN. Vis </a:t>
            </a:r>
            <a:r>
              <a:rPr lang="en-IN" sz="1800" err="1">
                <a:latin typeface="Georgia"/>
                <a:cs typeface="Times New Roman"/>
              </a:rPr>
              <a:t>Comput</a:t>
            </a:r>
            <a:r>
              <a:rPr lang="en-IN" sz="1800">
                <a:latin typeface="Georgia"/>
                <a:cs typeface="Times New Roman"/>
              </a:rPr>
              <a:t> (2023) </a:t>
            </a:r>
            <a:endParaRPr lang="en-US">
              <a:cs typeface="Times New Roman"/>
            </a:endParaRPr>
          </a:p>
          <a:p>
            <a:pPr marL="0" indent="0" algn="just">
              <a:buNone/>
            </a:pPr>
            <a:r>
              <a:rPr lang="en-IN" sz="1800">
                <a:latin typeface="Georgia"/>
                <a:cs typeface="Times New Roman"/>
              </a:rPr>
              <a:t>[4] Panwar, K.; Singh, A.; Kukreja, S.; Singh, K.K.; </a:t>
            </a:r>
            <a:r>
              <a:rPr lang="en-IN" sz="1800" err="1">
                <a:latin typeface="Georgia"/>
                <a:cs typeface="Times New Roman"/>
              </a:rPr>
              <a:t>Shakhovska</a:t>
            </a:r>
            <a:r>
              <a:rPr lang="en-IN" sz="1800">
                <a:latin typeface="Georgia"/>
                <a:cs typeface="Times New Roman"/>
              </a:rPr>
              <a:t>, N.; </a:t>
            </a:r>
            <a:r>
              <a:rPr lang="en-IN" sz="1800" err="1">
                <a:latin typeface="Georgia"/>
                <a:cs typeface="Times New Roman"/>
              </a:rPr>
              <a:t>Boichuk</a:t>
            </a:r>
            <a:r>
              <a:rPr lang="en-IN" sz="1800">
                <a:latin typeface="Georgia"/>
                <a:cs typeface="Times New Roman"/>
              </a:rPr>
              <a:t>, A. Encipher GAN: An End-to-End </a:t>
            </a:r>
            <a:r>
              <a:rPr lang="en-IN" sz="1800" err="1">
                <a:latin typeface="Georgia"/>
                <a:cs typeface="Times New Roman"/>
              </a:rPr>
              <a:t>Color</a:t>
            </a:r>
            <a:r>
              <a:rPr lang="en-IN" sz="1800">
                <a:latin typeface="Georgia"/>
                <a:cs typeface="Times New Roman"/>
              </a:rPr>
              <a:t> Image Encryption System Using a Deep Generative Model. Systems 2023</a:t>
            </a:r>
            <a:endParaRPr lang="en-US">
              <a:cs typeface="Times New Roman"/>
            </a:endParaRPr>
          </a:p>
          <a:p>
            <a:pPr marL="0" indent="0" algn="just">
              <a:buNone/>
            </a:pPr>
            <a:r>
              <a:rPr lang="en-IN" sz="1800">
                <a:latin typeface="Georgia"/>
                <a:cs typeface="Times New Roman"/>
              </a:rPr>
              <a:t>[5] Singh, O.D., Dhall, S., Malik, A. et al. A robust and secure immensely random GAN based image encryption mechanism. </a:t>
            </a:r>
            <a:r>
              <a:rPr lang="en-IN" sz="1800" err="1">
                <a:latin typeface="Georgia"/>
                <a:cs typeface="Times New Roman"/>
              </a:rPr>
              <a:t>Multimed</a:t>
            </a:r>
            <a:r>
              <a:rPr lang="en-IN" sz="1800">
                <a:latin typeface="Georgia"/>
                <a:cs typeface="Times New Roman"/>
              </a:rPr>
              <a:t> Tools Appl 82, 19693–19743 (2023). </a:t>
            </a:r>
            <a:endParaRPr lang="en-US">
              <a:cs typeface="Times New Roman"/>
            </a:endParaRPr>
          </a:p>
          <a:p>
            <a:pPr marL="0" indent="0" algn="just">
              <a:buNone/>
            </a:pPr>
            <a:r>
              <a:rPr lang="en-IN" sz="1800">
                <a:latin typeface="Georgia"/>
                <a:cs typeface="Times New Roman"/>
              </a:rPr>
              <a:t>[6] </a:t>
            </a:r>
            <a:r>
              <a:rPr lang="en-IN" sz="1800" err="1">
                <a:latin typeface="Georgia"/>
                <a:cs typeface="Times New Roman"/>
              </a:rPr>
              <a:t>Yendluri</a:t>
            </a:r>
            <a:r>
              <a:rPr lang="en-IN" sz="1800">
                <a:latin typeface="Georgia"/>
                <a:cs typeface="Times New Roman"/>
              </a:rPr>
              <a:t> Lohith </a:t>
            </a:r>
            <a:r>
              <a:rPr lang="en-IN" sz="1800" err="1">
                <a:latin typeface="Georgia"/>
                <a:cs typeface="Times New Roman"/>
              </a:rPr>
              <a:t>JayaSurya</a:t>
            </a:r>
            <a:r>
              <a:rPr lang="en-IN" sz="1800">
                <a:latin typeface="Georgia"/>
                <a:cs typeface="Times New Roman"/>
              </a:rPr>
              <a:t> , </a:t>
            </a:r>
            <a:r>
              <a:rPr lang="en-IN" sz="1800" err="1">
                <a:latin typeface="Georgia"/>
                <a:cs typeface="Times New Roman"/>
              </a:rPr>
              <a:t>Yendluri</a:t>
            </a:r>
            <a:r>
              <a:rPr lang="en-IN" sz="1800">
                <a:latin typeface="Georgia"/>
                <a:cs typeface="Times New Roman"/>
              </a:rPr>
              <a:t> Priya Yasaswini , </a:t>
            </a:r>
            <a:r>
              <a:rPr lang="en-IN" sz="1800" err="1">
                <a:latin typeface="Georgia"/>
                <a:cs typeface="Times New Roman"/>
              </a:rPr>
              <a:t>Somepalli</a:t>
            </a:r>
            <a:r>
              <a:rPr lang="en-IN" sz="1800">
                <a:latin typeface="Georgia"/>
                <a:cs typeface="Times New Roman"/>
              </a:rPr>
              <a:t> </a:t>
            </a:r>
            <a:r>
              <a:rPr lang="en-IN" sz="1800" err="1">
                <a:latin typeface="Georgia"/>
                <a:cs typeface="Times New Roman"/>
              </a:rPr>
              <a:t>Saranya,”Image</a:t>
            </a:r>
            <a:r>
              <a:rPr lang="en-IN" sz="1800">
                <a:latin typeface="Georgia"/>
                <a:cs typeface="Times New Roman"/>
              </a:rPr>
              <a:t> Steganography”, International Journal of Recent Technology and Engineering (IJRTE), Volume-9 Issue-3, September 2020 </a:t>
            </a:r>
            <a:endParaRPr lang="en-US">
              <a:cs typeface="Times New Roman"/>
            </a:endParaRPr>
          </a:p>
          <a:p>
            <a:pPr marL="0" indent="0" algn="just">
              <a:buNone/>
            </a:pPr>
            <a:r>
              <a:rPr lang="en-IN" sz="1800">
                <a:latin typeface="Georgia"/>
                <a:cs typeface="Times New Roman"/>
              </a:rPr>
              <a:t>[7] P. Mohan, P. B. Menon, P. K. Rahul and K. S. Sidharth, ”Image Steganography-A New Approach using Block Truncation Coding and LSB Embedding,” 2022 6th International Conference on Trends in Electronics and Informatics (ICOEI), Tirunelveli, India, 2022 </a:t>
            </a:r>
            <a:endParaRPr lang="en-US">
              <a:cs typeface="Times New Roman"/>
            </a:endParaRPr>
          </a:p>
          <a:p>
            <a:pPr marL="0" indent="0" algn="just">
              <a:buNone/>
            </a:pPr>
            <a:r>
              <a:rPr lang="en-IN" sz="1800">
                <a:latin typeface="Georgia"/>
                <a:cs typeface="Times New Roman"/>
              </a:rPr>
              <a:t>[8] M. Kataria, K. Jain and N. Subramanian, ”Exploring Advanced Encryption and Steganography Techniques for Image Security,” 2023 11th International Symposium on Digital Forensics and Security (ISDFS), Chattanooga, TN, USA, 2023 </a:t>
            </a:r>
            <a:endParaRPr lang="en-US">
              <a:cs typeface="Times New Roman"/>
            </a:endParaRPr>
          </a:p>
          <a:p>
            <a:pPr marL="0" indent="0" algn="just">
              <a:buNone/>
            </a:pPr>
            <a:r>
              <a:rPr lang="en-IN" sz="1800">
                <a:latin typeface="Georgia"/>
                <a:cs typeface="Times New Roman"/>
              </a:rPr>
              <a:t>[9] Chahar, Vijay &amp; Sharma, Sahil &amp; Kumar, Chandan &amp; Sahu, Aditya Kumar. “Latest Trends in Deep Learning Techniques for Image Steganography”, International Journal of Digital Crime and Forensics, 2023 </a:t>
            </a:r>
            <a:endParaRPr lang="en-US">
              <a:cs typeface="Times New Roman"/>
            </a:endParaRPr>
          </a:p>
          <a:p>
            <a:pPr marL="0" indent="0" algn="just">
              <a:buNone/>
            </a:pPr>
            <a:r>
              <a:rPr lang="en-IN" sz="1800">
                <a:latin typeface="Georgia"/>
                <a:cs typeface="Times New Roman"/>
              </a:rPr>
              <a:t>[10] Monu Singh, Naman Baranwal, K.N. Singh, A.K. Singh, </a:t>
            </a:r>
            <a:r>
              <a:rPr lang="en-IN" sz="1800" err="1">
                <a:latin typeface="Georgia"/>
                <a:cs typeface="Times New Roman"/>
              </a:rPr>
              <a:t>Huiyu</a:t>
            </a:r>
            <a:r>
              <a:rPr lang="en-IN" sz="1800">
                <a:latin typeface="Georgia"/>
                <a:cs typeface="Times New Roman"/>
              </a:rPr>
              <a:t> Zhou, Deep learning-based biometric image feature extraction for securing medical images through data hiding and joint encryption–compression, Journal of Information Security and Applications, Volume 79, 2023</a:t>
            </a:r>
            <a:endParaRPr lang="en-US"/>
          </a:p>
        </p:txBody>
      </p:sp>
      <p:sp>
        <p:nvSpPr>
          <p:cNvPr id="3" name="Title 2"/>
          <p:cNvSpPr>
            <a:spLocks noGrp="1"/>
          </p:cNvSpPr>
          <p:nvPr>
            <p:ph type="title"/>
          </p:nvPr>
        </p:nvSpPr>
        <p:spPr/>
        <p:txBody>
          <a:bodyPr/>
          <a:lstStyle/>
          <a:p>
            <a:r>
              <a:rPr lang="en-US"/>
              <a:t>References</a:t>
            </a:r>
            <a:endParaRPr lang="en-IN"/>
          </a:p>
        </p:txBody>
      </p:sp>
      <p:sp>
        <p:nvSpPr>
          <p:cNvPr id="4" name="Footer Placeholder 3"/>
          <p:cNvSpPr>
            <a:spLocks noGrp="1"/>
          </p:cNvSpPr>
          <p:nvPr>
            <p:ph type="ftr" sz="quarter" idx="11"/>
          </p:nvPr>
        </p:nvSpPr>
        <p:spPr/>
        <p:txBody>
          <a:bodyPr/>
          <a:lstStyle/>
          <a:p>
            <a:r>
              <a:rPr lang="en-US">
                <a:solidFill>
                  <a:prstClr val="white"/>
                </a:solidFill>
              </a:rPr>
              <a:t>21AIE312</a:t>
            </a:r>
            <a:endParaRPr lang="en-US"/>
          </a:p>
        </p:txBody>
      </p:sp>
      <p:sp>
        <p:nvSpPr>
          <p:cNvPr id="5" name="Slide Number Placeholder 4"/>
          <p:cNvSpPr>
            <a:spLocks noGrp="1"/>
          </p:cNvSpPr>
          <p:nvPr>
            <p:ph type="sldNum" sz="quarter" idx="12"/>
          </p:nvPr>
        </p:nvSpPr>
        <p:spPr/>
        <p:txBody>
          <a:bodyPr/>
          <a:lstStyle/>
          <a:p>
            <a:fld id="{71766878-3199-4EAB-94E7-2D6D11070E14}" type="slidenum">
              <a:rPr lang="en-US" smtClean="0"/>
              <a:pPr/>
              <a:t>24</a:t>
            </a:fld>
            <a:endParaRPr lang="en-US"/>
          </a:p>
        </p:txBody>
      </p:sp>
    </p:spTree>
    <p:extLst>
      <p:ext uri="{BB962C8B-B14F-4D97-AF65-F5344CB8AC3E}">
        <p14:creationId xmlns:p14="http://schemas.microsoft.com/office/powerpoint/2010/main" val="30164877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41194" y="890411"/>
            <a:ext cx="11436823" cy="5476897"/>
          </a:xfrm>
        </p:spPr>
        <p:txBody>
          <a:bodyPr vert="horz" lIns="91440" tIns="45720" rIns="91440" bIns="45720" rtlCol="0" anchor="t">
            <a:normAutofit fontScale="92500" lnSpcReduction="20000"/>
          </a:bodyPr>
          <a:lstStyle/>
          <a:p>
            <a:pPr marL="0" indent="0" algn="just">
              <a:buNone/>
            </a:pPr>
            <a:r>
              <a:rPr lang="en-US" sz="1600">
                <a:latin typeface="Georgia"/>
              </a:rPr>
              <a:t>[11] Q. Li et al., ”A Novel Grayscale Image Steganography Scheme Based on Chaos Encryption and Generative Adversarial Networks,” in IEEE Access, vol. 8, pp. 168166-168176, 2020 </a:t>
            </a:r>
            <a:endParaRPr lang="en-US">
              <a:latin typeface="Georgia"/>
            </a:endParaRPr>
          </a:p>
          <a:p>
            <a:pPr marL="0" indent="0" algn="just">
              <a:buNone/>
            </a:pPr>
            <a:r>
              <a:rPr lang="en-US" sz="1600">
                <a:latin typeface="Georgia"/>
              </a:rPr>
              <a:t>[12] Qin, J.; Wang, J.; Tan, Y.; Huang, H.; Xiang, X.; He, Z. Coverless Image Steganography Based on Generative Adversarial Network. Mathematics 2020 </a:t>
            </a:r>
            <a:endParaRPr lang="en-US">
              <a:latin typeface="Georgia"/>
            </a:endParaRPr>
          </a:p>
          <a:p>
            <a:pPr marL="0" indent="0" algn="just">
              <a:buNone/>
            </a:pPr>
            <a:r>
              <a:rPr lang="en-US" sz="1600">
                <a:latin typeface="Georgia"/>
              </a:rPr>
              <a:t>[13] V. Sharma, M. Shukla, S. Srivastava and R. Mandal, ”Generative Network Based Image Encryption,” 2020 4th International Conference on Intelligent Computing and Control Systems (ICICCS), Madurai, India, 2020 </a:t>
            </a:r>
            <a:endParaRPr lang="en-US">
              <a:latin typeface="Georgia"/>
            </a:endParaRPr>
          </a:p>
          <a:p>
            <a:pPr marL="0" indent="0" algn="just">
              <a:buNone/>
            </a:pPr>
            <a:r>
              <a:rPr lang="en-US" sz="1600">
                <a:latin typeface="Georgia"/>
              </a:rPr>
              <a:t>[14] </a:t>
            </a:r>
            <a:r>
              <a:rPr lang="en-US" sz="1600" err="1">
                <a:latin typeface="Georgia"/>
              </a:rPr>
              <a:t>Ramaneti</a:t>
            </a:r>
            <a:r>
              <a:rPr lang="en-US" sz="1600">
                <a:latin typeface="Georgia"/>
              </a:rPr>
              <a:t>, K., Kakani, P., Krishna, C., Rajkumar, S. (2021). Image Steganography Using GANs. In: Lee, R. (eds) Computer and Information Science 2021 </a:t>
            </a:r>
            <a:endParaRPr lang="en-US">
              <a:latin typeface="Georgia"/>
            </a:endParaRPr>
          </a:p>
          <a:p>
            <a:pPr marL="0" indent="0" algn="just">
              <a:buNone/>
            </a:pPr>
            <a:r>
              <a:rPr lang="en-US" sz="1600">
                <a:latin typeface="Georgia"/>
              </a:rPr>
              <a:t>[15] Yu, C., Hu, D., Zheng, S. et al. An improved steganography without embedding based on attention GAN. Peer-to-Peer </a:t>
            </a:r>
            <a:r>
              <a:rPr lang="en-US" sz="1600" err="1">
                <a:latin typeface="Georgia"/>
              </a:rPr>
              <a:t>Netw</a:t>
            </a:r>
            <a:r>
              <a:rPr lang="en-US" sz="1600">
                <a:latin typeface="Georgia"/>
              </a:rPr>
              <a:t>. Appl. 14, 1446–1457 (2021). </a:t>
            </a:r>
            <a:endParaRPr lang="en-US">
              <a:latin typeface="Georgia"/>
            </a:endParaRPr>
          </a:p>
          <a:p>
            <a:pPr marL="0" indent="0" algn="just">
              <a:buNone/>
            </a:pPr>
            <a:r>
              <a:rPr lang="en-US" sz="1600">
                <a:latin typeface="Georgia"/>
              </a:rPr>
              <a:t>[16] Yuan, C., Wang, H., He, P. et al. GAN-based image steganography for enhancing security via adversarial attack and pixel-wise deep fusion. </a:t>
            </a:r>
            <a:r>
              <a:rPr lang="en-US" sz="1600" err="1">
                <a:latin typeface="Georgia"/>
              </a:rPr>
              <a:t>Multimed</a:t>
            </a:r>
            <a:r>
              <a:rPr lang="en-US" sz="1600">
                <a:latin typeface="Georgia"/>
              </a:rPr>
              <a:t> Tools Appl 81, 6681–6701 (2022). </a:t>
            </a:r>
            <a:endParaRPr lang="en-US">
              <a:latin typeface="Georgia"/>
            </a:endParaRPr>
          </a:p>
          <a:p>
            <a:pPr marL="0" indent="0" algn="just">
              <a:buNone/>
            </a:pPr>
            <a:r>
              <a:rPr lang="en-US" sz="1600">
                <a:latin typeface="Georgia"/>
              </a:rPr>
              <a:t>[17] </a:t>
            </a:r>
            <a:r>
              <a:rPr lang="en-US" sz="1600" err="1">
                <a:latin typeface="Georgia"/>
              </a:rPr>
              <a:t>Kuyoro</a:t>
            </a:r>
            <a:r>
              <a:rPr lang="en-US" sz="1600">
                <a:latin typeface="Georgia"/>
              </a:rPr>
              <a:t>, A., </a:t>
            </a:r>
            <a:r>
              <a:rPr lang="en-US" sz="1600" err="1">
                <a:latin typeface="Georgia"/>
              </a:rPr>
              <a:t>Nzenwata</a:t>
            </a:r>
            <a:r>
              <a:rPr lang="en-US" sz="1600">
                <a:latin typeface="Georgia"/>
              </a:rPr>
              <a:t>, U.J., </a:t>
            </a:r>
            <a:r>
              <a:rPr lang="en-US" sz="1600" err="1">
                <a:latin typeface="Georgia"/>
              </a:rPr>
              <a:t>Awodele</a:t>
            </a:r>
            <a:r>
              <a:rPr lang="en-US" sz="1600">
                <a:latin typeface="Georgia"/>
              </a:rPr>
              <a:t>, O., Idowu, S. (2022). </a:t>
            </a:r>
            <a:r>
              <a:rPr lang="en-US" sz="1600" err="1">
                <a:latin typeface="Georgia"/>
              </a:rPr>
              <a:t>GANbased</a:t>
            </a:r>
            <a:r>
              <a:rPr lang="en-US" sz="1600">
                <a:latin typeface="Georgia"/>
              </a:rPr>
              <a:t> encoding model for reversible image steganography. Revue </a:t>
            </a:r>
            <a:r>
              <a:rPr lang="en-US" sz="1600" err="1">
                <a:latin typeface="Georgia"/>
              </a:rPr>
              <a:t>d’Intelligence</a:t>
            </a:r>
            <a:r>
              <a:rPr lang="en-US" sz="1600">
                <a:latin typeface="Georgia"/>
              </a:rPr>
              <a:t> </a:t>
            </a:r>
            <a:r>
              <a:rPr lang="en-US" sz="1600" err="1">
                <a:latin typeface="Georgia"/>
              </a:rPr>
              <a:t>Artificielle</a:t>
            </a:r>
            <a:r>
              <a:rPr lang="en-US" sz="1600">
                <a:latin typeface="Georgia"/>
              </a:rPr>
              <a:t>, Vol. 36, No. 4, pp. 561-567. </a:t>
            </a:r>
            <a:endParaRPr lang="en-US">
              <a:latin typeface="Georgia"/>
            </a:endParaRPr>
          </a:p>
          <a:p>
            <a:pPr marL="0" indent="0" algn="just">
              <a:buNone/>
            </a:pPr>
            <a:r>
              <a:rPr lang="en-US" sz="1600">
                <a:latin typeface="Georgia"/>
              </a:rPr>
              <a:t>[18] Alejandro </a:t>
            </a:r>
            <a:r>
              <a:rPr lang="en-US" sz="1600" err="1">
                <a:latin typeface="Georgia"/>
              </a:rPr>
              <a:t>Mart´ın</a:t>
            </a:r>
            <a:r>
              <a:rPr lang="en-US" sz="1600">
                <a:latin typeface="Georgia"/>
              </a:rPr>
              <a:t>, Alfonso Hernandez, Moutaz </a:t>
            </a:r>
            <a:r>
              <a:rPr lang="en-US" sz="1600" err="1">
                <a:latin typeface="Georgia"/>
              </a:rPr>
              <a:t>Alazab</a:t>
            </a:r>
            <a:r>
              <a:rPr lang="en-US" sz="1600">
                <a:latin typeface="Georgia"/>
              </a:rPr>
              <a:t>, Jason Jung, ´ David Camacho, “Evolving Generative Adversarial Networks to improve image steganography”, Expert Systems with Applications, Volume 222, 2023 </a:t>
            </a:r>
            <a:endParaRPr lang="en-US">
              <a:latin typeface="Georgia"/>
            </a:endParaRPr>
          </a:p>
          <a:p>
            <a:pPr marL="0" indent="0" algn="just">
              <a:buNone/>
            </a:pPr>
            <a:r>
              <a:rPr lang="en-US" sz="1600">
                <a:latin typeface="Georgia"/>
              </a:rPr>
              <a:t>[19] Hafiz Abdul Rehman, Usama Ijaz Bajwa, Rana Hammad Raza, Sultan </a:t>
            </a:r>
            <a:r>
              <a:rPr lang="en-US" sz="1600" err="1">
                <a:latin typeface="Georgia"/>
              </a:rPr>
              <a:t>Alfarhood</a:t>
            </a:r>
            <a:r>
              <a:rPr lang="en-US" sz="1600">
                <a:latin typeface="Georgia"/>
              </a:rPr>
              <a:t>, </a:t>
            </a:r>
            <a:r>
              <a:rPr lang="en-US" sz="1600" err="1">
                <a:latin typeface="Georgia"/>
              </a:rPr>
              <a:t>Mejdl</a:t>
            </a:r>
            <a:r>
              <a:rPr lang="en-US" sz="1600">
                <a:latin typeface="Georgia"/>
              </a:rPr>
              <a:t> Safran, Fan Zhang, “Leveraging coverless image steganography to hide secret information by generating anime characters using </a:t>
            </a:r>
            <a:r>
              <a:rPr lang="en-US" sz="1600" err="1">
                <a:latin typeface="Georgia"/>
              </a:rPr>
              <a:t>GAN”,Expert</a:t>
            </a:r>
            <a:r>
              <a:rPr lang="en-US" sz="1600">
                <a:latin typeface="Georgia"/>
              </a:rPr>
              <a:t> Systems with </a:t>
            </a:r>
            <a:r>
              <a:rPr lang="en-US" sz="1600" err="1">
                <a:latin typeface="Georgia"/>
              </a:rPr>
              <a:t>Applications,Volume</a:t>
            </a:r>
            <a:r>
              <a:rPr lang="en-US" sz="1600">
                <a:latin typeface="Georgia"/>
              </a:rPr>
              <a:t> 248, 2024</a:t>
            </a:r>
            <a:endParaRPr lang="en-US">
              <a:latin typeface="Georgia"/>
            </a:endParaRPr>
          </a:p>
          <a:p>
            <a:pPr marL="0" indent="0" algn="just">
              <a:buNone/>
            </a:pPr>
            <a:r>
              <a:rPr lang="en-US" sz="1600">
                <a:latin typeface="Georgia"/>
              </a:rPr>
              <a:t>[20] Ye Yao, Junyu Wang, Qi Chang, </a:t>
            </a:r>
            <a:r>
              <a:rPr lang="en-US" sz="1600" err="1">
                <a:latin typeface="Georgia"/>
              </a:rPr>
              <a:t>Yizhi</a:t>
            </a:r>
            <a:r>
              <a:rPr lang="en-US" sz="1600">
                <a:latin typeface="Georgia"/>
              </a:rPr>
              <a:t> Ren, </a:t>
            </a:r>
            <a:r>
              <a:rPr lang="en-US" sz="1600" err="1">
                <a:latin typeface="Georgia"/>
              </a:rPr>
              <a:t>Weizhi</a:t>
            </a:r>
            <a:r>
              <a:rPr lang="en-US" sz="1600">
                <a:latin typeface="Georgia"/>
              </a:rPr>
              <a:t> Meng, ”High invisibility image steganography with wavelet transform and generative adversarial network”, Expert Systems with Applications, 2024 </a:t>
            </a:r>
            <a:endParaRPr lang="en-US">
              <a:latin typeface="Georgia"/>
            </a:endParaRPr>
          </a:p>
          <a:p>
            <a:pPr marL="0" indent="0" algn="just">
              <a:buNone/>
            </a:pPr>
            <a:r>
              <a:rPr lang="en-US" sz="1600">
                <a:latin typeface="Georgia"/>
              </a:rPr>
              <a:t>[21] </a:t>
            </a:r>
            <a:r>
              <a:rPr lang="en-US" sz="1600" err="1">
                <a:latin typeface="Georgia"/>
              </a:rPr>
              <a:t>Dewang</a:t>
            </a:r>
            <a:r>
              <a:rPr lang="en-US" sz="1600">
                <a:latin typeface="Georgia"/>
              </a:rPr>
              <a:t> Wang, </a:t>
            </a:r>
            <a:r>
              <a:rPr lang="en-US" sz="1600" err="1">
                <a:latin typeface="Georgia"/>
              </a:rPr>
              <a:t>Gaobo</a:t>
            </a:r>
            <a:r>
              <a:rPr lang="en-US" sz="1600">
                <a:latin typeface="Georgia"/>
              </a:rPr>
              <a:t> Yang, </a:t>
            </a:r>
            <a:r>
              <a:rPr lang="en-US" sz="1600" err="1">
                <a:latin typeface="Georgia"/>
              </a:rPr>
              <a:t>Jiyou</a:t>
            </a:r>
            <a:r>
              <a:rPr lang="en-US" sz="1600">
                <a:latin typeface="Georgia"/>
              </a:rPr>
              <a:t> Chen, </a:t>
            </a:r>
            <a:r>
              <a:rPr lang="en-US" sz="1600" err="1">
                <a:latin typeface="Georgia"/>
              </a:rPr>
              <a:t>Xiangling</a:t>
            </a:r>
            <a:r>
              <a:rPr lang="en-US" sz="1600">
                <a:latin typeface="Georgia"/>
              </a:rPr>
              <a:t> Ding, ”</a:t>
            </a:r>
            <a:r>
              <a:rPr lang="en-US" sz="1600" err="1">
                <a:latin typeface="Georgia"/>
              </a:rPr>
              <a:t>GANbased</a:t>
            </a:r>
            <a:r>
              <a:rPr lang="en-US" sz="1600">
                <a:latin typeface="Georgia"/>
              </a:rPr>
              <a:t> adaptive cost learning for enhanced image steganography </a:t>
            </a:r>
            <a:r>
              <a:rPr lang="en-US" sz="1600" err="1">
                <a:latin typeface="Georgia"/>
              </a:rPr>
              <a:t>security”,Expert</a:t>
            </a:r>
            <a:r>
              <a:rPr lang="en-US" sz="1600">
                <a:latin typeface="Georgia"/>
              </a:rPr>
              <a:t> Systems with Applications, Volume 249, Part A, 2024</a:t>
            </a:r>
            <a:endParaRPr lang="en-US">
              <a:latin typeface="Georgia"/>
            </a:endParaRPr>
          </a:p>
        </p:txBody>
      </p:sp>
      <p:sp>
        <p:nvSpPr>
          <p:cNvPr id="3" name="Title 2"/>
          <p:cNvSpPr>
            <a:spLocks noGrp="1"/>
          </p:cNvSpPr>
          <p:nvPr>
            <p:ph type="title"/>
          </p:nvPr>
        </p:nvSpPr>
        <p:spPr/>
        <p:txBody>
          <a:bodyPr/>
          <a:lstStyle/>
          <a:p>
            <a:r>
              <a:rPr lang="en-US">
                <a:latin typeface="Georgia"/>
              </a:rPr>
              <a:t>References</a:t>
            </a:r>
            <a:endParaRPr lang="en-IN">
              <a:latin typeface="Georgia"/>
            </a:endParaRPr>
          </a:p>
        </p:txBody>
      </p:sp>
      <p:sp>
        <p:nvSpPr>
          <p:cNvPr id="4" name="Footer Placeholder 3"/>
          <p:cNvSpPr>
            <a:spLocks noGrp="1"/>
          </p:cNvSpPr>
          <p:nvPr>
            <p:ph type="ftr" sz="quarter" idx="11"/>
          </p:nvPr>
        </p:nvSpPr>
        <p:spPr/>
        <p:txBody>
          <a:bodyPr/>
          <a:lstStyle/>
          <a:p>
            <a:r>
              <a:rPr lang="en-US">
                <a:solidFill>
                  <a:prstClr val="white"/>
                </a:solidFill>
              </a:rPr>
              <a:t>21AIE312</a:t>
            </a:r>
            <a:endParaRPr lang="en-US"/>
          </a:p>
        </p:txBody>
      </p:sp>
      <p:sp>
        <p:nvSpPr>
          <p:cNvPr id="5" name="Slide Number Placeholder 4"/>
          <p:cNvSpPr>
            <a:spLocks noGrp="1"/>
          </p:cNvSpPr>
          <p:nvPr>
            <p:ph type="sldNum" sz="quarter" idx="12"/>
          </p:nvPr>
        </p:nvSpPr>
        <p:spPr/>
        <p:txBody>
          <a:bodyPr/>
          <a:lstStyle/>
          <a:p>
            <a:fld id="{71766878-3199-4EAB-94E7-2D6D11070E14}" type="slidenum">
              <a:rPr lang="en-US" smtClean="0"/>
              <a:pPr/>
              <a:t>25</a:t>
            </a:fld>
            <a:endParaRPr lang="en-US"/>
          </a:p>
        </p:txBody>
      </p:sp>
    </p:spTree>
    <p:extLst>
      <p:ext uri="{BB962C8B-B14F-4D97-AF65-F5344CB8AC3E}">
        <p14:creationId xmlns:p14="http://schemas.microsoft.com/office/powerpoint/2010/main" val="20728492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C7345865-3CA9-C0E3-BB2B-D98E5697D2AD}"/>
              </a:ext>
            </a:extLst>
          </p:cNvPr>
          <p:cNvSpPr>
            <a:spLocks noGrp="1"/>
          </p:cNvSpPr>
          <p:nvPr>
            <p:ph type="ftr" sz="quarter" idx="11"/>
          </p:nvPr>
        </p:nvSpPr>
        <p:spPr/>
        <p:txBody>
          <a:bodyPr/>
          <a:lstStyle/>
          <a:p>
            <a:r>
              <a:rPr lang="en-US"/>
              <a:t>21AIE312</a:t>
            </a:r>
          </a:p>
        </p:txBody>
      </p:sp>
      <p:sp>
        <p:nvSpPr>
          <p:cNvPr id="5" name="Slide Number Placeholder 4">
            <a:extLst>
              <a:ext uri="{FF2B5EF4-FFF2-40B4-BE49-F238E27FC236}">
                <a16:creationId xmlns:a16="http://schemas.microsoft.com/office/drawing/2014/main" id="{73B50A0D-7B27-396E-83B1-6E3025417A36}"/>
              </a:ext>
            </a:extLst>
          </p:cNvPr>
          <p:cNvSpPr>
            <a:spLocks noGrp="1"/>
          </p:cNvSpPr>
          <p:nvPr>
            <p:ph type="sldNum" sz="quarter" idx="12"/>
          </p:nvPr>
        </p:nvSpPr>
        <p:spPr/>
        <p:txBody>
          <a:bodyPr/>
          <a:lstStyle/>
          <a:p>
            <a:fld id="{71766878-3199-4EAB-94E7-2D6D11070E14}" type="slidenum">
              <a:rPr lang="en-US" smtClean="0"/>
              <a:pPr/>
              <a:t>26</a:t>
            </a:fld>
            <a:endParaRPr lang="en-US"/>
          </a:p>
        </p:txBody>
      </p:sp>
      <p:sp>
        <p:nvSpPr>
          <p:cNvPr id="6" name="Title 2">
            <a:extLst>
              <a:ext uri="{FF2B5EF4-FFF2-40B4-BE49-F238E27FC236}">
                <a16:creationId xmlns:a16="http://schemas.microsoft.com/office/drawing/2014/main" id="{432A22A6-4A31-EA97-5D3C-31EB583F26C2}"/>
              </a:ext>
            </a:extLst>
          </p:cNvPr>
          <p:cNvSpPr>
            <a:spLocks noGrp="1"/>
          </p:cNvSpPr>
          <p:nvPr>
            <p:ph type="title"/>
          </p:nvPr>
        </p:nvSpPr>
        <p:spPr>
          <a:xfrm>
            <a:off x="4162647" y="2793034"/>
            <a:ext cx="3866706" cy="1271932"/>
          </a:xfrm>
        </p:spPr>
        <p:txBody>
          <a:bodyPr/>
          <a:lstStyle/>
          <a:p>
            <a:r>
              <a:rPr lang="en-US" sz="6000"/>
              <a:t>Thank You</a:t>
            </a:r>
          </a:p>
        </p:txBody>
      </p:sp>
      <p:sp>
        <p:nvSpPr>
          <p:cNvPr id="7" name="Slide Number Placeholder 4">
            <a:extLst>
              <a:ext uri="{FF2B5EF4-FFF2-40B4-BE49-F238E27FC236}">
                <a16:creationId xmlns:a16="http://schemas.microsoft.com/office/drawing/2014/main" id="{3629F4DD-5DEA-E1C0-0144-CBA64D46813B}"/>
              </a:ext>
            </a:extLst>
          </p:cNvPr>
          <p:cNvSpPr txBox="1">
            <a:spLocks/>
          </p:cNvSpPr>
          <p:nvPr/>
        </p:nvSpPr>
        <p:spPr>
          <a:xfrm>
            <a:off x="423084" y="6507126"/>
            <a:ext cx="415115" cy="258798"/>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bg1"/>
                </a:solidFill>
                <a:latin typeface="Times New Roman" panose="02020603050405020304" pitchFamily="18" charset="0"/>
                <a:ea typeface="+mn-ea"/>
                <a:cs typeface="Times New Roman" panose="02020603050405020304" pitchFamily="18"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1766878-3199-4EAB-94E7-2D6D11070E14}" type="slidenum">
              <a:rPr lang="en-US" smtClean="0"/>
              <a:pPr/>
              <a:t>26</a:t>
            </a:fld>
            <a:endParaRPr lang="en-US"/>
          </a:p>
        </p:txBody>
      </p:sp>
    </p:spTree>
    <p:extLst>
      <p:ext uri="{BB962C8B-B14F-4D97-AF65-F5344CB8AC3E}">
        <p14:creationId xmlns:p14="http://schemas.microsoft.com/office/powerpoint/2010/main" val="130070072"/>
      </p:ext>
    </p:extLst>
  </p:cSld>
  <p:clrMapOvr>
    <a:masterClrMapping/>
  </p:clrMapOvr>
</p:sld>
</file>

<file path=ppt/theme/theme1.xml><?xml version="1.0" encoding="utf-8"?>
<a:theme xmlns:a="http://schemas.openxmlformats.org/drawingml/2006/main" name="NAAC PRT Templat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AAC PRT Template [Compatibility Mode]" id="{A3D2B74B-B15B-466F-9768-BD91F499C34C}" vid="{0E57DE27-252B-4995-BE16-123377BD3E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B2D7181F0CA5846AA49DC089A86D46D" ma:contentTypeVersion="7" ma:contentTypeDescription="Create a new document." ma:contentTypeScope="" ma:versionID="6aaf3339c1cee7db7de9add63cde7fd7">
  <xsd:schema xmlns:xsd="http://www.w3.org/2001/XMLSchema" xmlns:xs="http://www.w3.org/2001/XMLSchema" xmlns:p="http://schemas.microsoft.com/office/2006/metadata/properties" xmlns:ns2="72316fd4-f550-4442-b53d-c3f520c90673" xmlns:ns3="0871b904-98c6-4e86-9e88-11239d2b074e" targetNamespace="http://schemas.microsoft.com/office/2006/metadata/properties" ma:root="true" ma:fieldsID="bf40f5f5c8465fe7c1683ca7025a1652" ns2:_="" ns3:_="">
    <xsd:import namespace="72316fd4-f550-4442-b53d-c3f520c90673"/>
    <xsd:import namespace="0871b904-98c6-4e86-9e88-11239d2b074e"/>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Tag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2316fd4-f550-4442-b53d-c3f520c9067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AutoTags" ma:index="12" nillable="true" ma:displayName="Tags" ma:internalName="MediaServiceAutoTag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871b904-98c6-4e86-9e88-11239d2b074e"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4CC50E3-F888-4D3F-A20C-B500B38A9158}">
  <ds:schemaRefs>
    <ds:schemaRef ds:uri="http://schemas.microsoft.com/sharepoint/v3/contenttype/forms"/>
  </ds:schemaRefs>
</ds:datastoreItem>
</file>

<file path=customXml/itemProps2.xml><?xml version="1.0" encoding="utf-8"?>
<ds:datastoreItem xmlns:ds="http://schemas.openxmlformats.org/officeDocument/2006/customXml" ds:itemID="{538FEAA8-0548-4F62-9011-BF5A8ACE7B87}">
  <ds:schemaRefs>
    <ds:schemaRef ds:uri="0871b904-98c6-4e86-9e88-11239d2b074e"/>
    <ds:schemaRef ds:uri="72316fd4-f550-4442-b53d-c3f520c9067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EB9027C6-EF04-46C1-8410-E55332E29786}">
  <ds:schemaRefs>
    <ds:schemaRef ds:uri="0871b904-98c6-4e86-9e88-11239d2b074e"/>
    <ds:schemaRef ds:uri="72316fd4-f550-4442-b53d-c3f520c9067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NAAC PRT Template</Template>
  <Application>Microsoft Office PowerPoint</Application>
  <PresentationFormat>Widescreen</PresentationFormat>
  <Slides>26</Slides>
  <Notes>0</Notes>
  <HiddenSlides>0</HiddenSlide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NAAC PRT Template</vt:lpstr>
      <vt:lpstr>PowerPoint Presentation</vt:lpstr>
      <vt:lpstr>Outline</vt:lpstr>
      <vt:lpstr>Introduction</vt:lpstr>
      <vt:lpstr>Introduction Cont.</vt:lpstr>
      <vt:lpstr>Literature Review </vt:lpstr>
      <vt:lpstr>Dataset Description</vt:lpstr>
      <vt:lpstr>Dataset Description</vt:lpstr>
      <vt:lpstr>Methodology</vt:lpstr>
      <vt:lpstr>PowerPoint Presentation</vt:lpstr>
      <vt:lpstr>Receiver side</vt:lpstr>
      <vt:lpstr>Extracting Semantic Features</vt:lpstr>
      <vt:lpstr>Model Building </vt:lpstr>
      <vt:lpstr>Model Building </vt:lpstr>
      <vt:lpstr>Model Building </vt:lpstr>
      <vt:lpstr>Steganography </vt:lpstr>
      <vt:lpstr>Steganography </vt:lpstr>
      <vt:lpstr>Image reconstruction </vt:lpstr>
      <vt:lpstr>Evaluation Metrics</vt:lpstr>
      <vt:lpstr>Results and discussions</vt:lpstr>
      <vt:lpstr>Results and discussions</vt:lpstr>
      <vt:lpstr>Results and discussions</vt:lpstr>
      <vt:lpstr>Conclusion</vt:lpstr>
      <vt:lpstr>Conclusion</vt:lpstr>
      <vt:lpstr>References</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bp_peeta@blr.amrita.edu</dc:creator>
  <cp:revision>19</cp:revision>
  <dcterms:created xsi:type="dcterms:W3CDTF">2021-03-08T16:55:55Z</dcterms:created>
  <dcterms:modified xsi:type="dcterms:W3CDTF">2024-05-23T22:44:10Z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0x0101003B2D7181F0CA5846AA49DC089A86D46D</vt:lpwstr>
  </property>
</Properties>
</file>